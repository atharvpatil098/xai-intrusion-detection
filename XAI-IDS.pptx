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7" r:id="rId11"/>
    <p:sldId id="265" r:id="rId12"/>
    <p:sldId id="266" r:id="rId13"/>
  </p:sldIdLst>
  <p:sldSz cx="18288000" cy="10287000"/>
  <p:notesSz cx="6858000" cy="9144000"/>
  <p:embeddedFontLst>
    <p:embeddedFont>
      <p:font typeface="Times New Roman Bold" panose="02020803070505020304" pitchFamily="18" charset="0"/>
      <p:regular r:id="rId14"/>
      <p:bold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402945" y="0"/>
            <a:ext cx="11482111" cy="2240747"/>
          </a:xfrm>
          <a:custGeom>
            <a:avLst/>
            <a:gdLst/>
            <a:ahLst/>
            <a:cxnLst/>
            <a:rect l="l" t="t" r="r" b="b"/>
            <a:pathLst>
              <a:path w="11482111" h="2240747">
                <a:moveTo>
                  <a:pt x="0" y="0"/>
                </a:moveTo>
                <a:lnTo>
                  <a:pt x="11482110" y="0"/>
                </a:lnTo>
                <a:lnTo>
                  <a:pt x="11482110" y="2240747"/>
                </a:lnTo>
                <a:lnTo>
                  <a:pt x="0" y="2240747"/>
                </a:lnTo>
                <a:lnTo>
                  <a:pt x="0" y="0"/>
                </a:lnTo>
                <a:close/>
              </a:path>
            </a:pathLst>
          </a:custGeom>
          <a:blipFill>
            <a:blip r:embed="rId2"/>
            <a:stretch>
              <a:fillRect b="-4990"/>
            </a:stretch>
          </a:blipFill>
          <a:ln cap="sq">
            <a:noFill/>
            <a:prstDash val="solid"/>
            <a:miter/>
          </a:ln>
        </p:spPr>
      </p:sp>
      <p:graphicFrame>
        <p:nvGraphicFramePr>
          <p:cNvPr id="3" name="Table 3"/>
          <p:cNvGraphicFramePr>
            <a:graphicFrameLocks noGrp="1"/>
          </p:cNvGraphicFramePr>
          <p:nvPr/>
        </p:nvGraphicFramePr>
        <p:xfrm>
          <a:off x="5486400" y="4881759"/>
          <a:ext cx="7315200" cy="5181600"/>
        </p:xfrm>
        <a:graphic>
          <a:graphicData uri="http://schemas.openxmlformats.org/drawingml/2006/table">
            <a:tbl>
              <a:tblPr/>
              <a:tblGrid>
                <a:gridCol w="3734604">
                  <a:extLst>
                    <a:ext uri="{9D8B030D-6E8A-4147-A177-3AD203B41FA5}">
                      <a16:colId xmlns:a16="http://schemas.microsoft.com/office/drawing/2014/main" val="20000"/>
                    </a:ext>
                  </a:extLst>
                </a:gridCol>
                <a:gridCol w="3580596">
                  <a:extLst>
                    <a:ext uri="{9D8B030D-6E8A-4147-A177-3AD203B41FA5}">
                      <a16:colId xmlns:a16="http://schemas.microsoft.com/office/drawing/2014/main" val="20001"/>
                    </a:ext>
                  </a:extLst>
                </a:gridCol>
              </a:tblGrid>
              <a:tr h="1036320">
                <a:tc>
                  <a:txBody>
                    <a:bodyPr/>
                    <a:lstStyle/>
                    <a:p>
                      <a:pPr algn="ctr">
                        <a:lnSpc>
                          <a:spcPts val="4200"/>
                        </a:lnSpc>
                        <a:defRPr/>
                      </a:pPr>
                      <a:r>
                        <a:rPr lang="en-US" sz="3000" b="1">
                          <a:solidFill>
                            <a:srgbClr val="000000"/>
                          </a:solidFill>
                          <a:latin typeface="Times New Roman Bold"/>
                          <a:ea typeface="Times New Roman Bold"/>
                          <a:cs typeface="Times New Roman Bold"/>
                          <a:sym typeface="Times New Roman Bold"/>
                        </a:rPr>
                        <a:t>Name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200"/>
                        </a:lnSpc>
                        <a:defRPr/>
                      </a:pPr>
                      <a:r>
                        <a:rPr lang="en-US" sz="3000" b="1">
                          <a:solidFill>
                            <a:srgbClr val="000000"/>
                          </a:solidFill>
                          <a:latin typeface="Times New Roman Bold"/>
                          <a:ea typeface="Times New Roman Bold"/>
                          <a:cs typeface="Times New Roman Bold"/>
                          <a:sym typeface="Times New Roman Bold"/>
                        </a:rPr>
                        <a:t>Roll no. </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036320">
                <a:tc>
                  <a:txBody>
                    <a:bodyPr/>
                    <a:lstStyle/>
                    <a:p>
                      <a:pPr algn="ctr">
                        <a:lnSpc>
                          <a:spcPts val="4200"/>
                        </a:lnSpc>
                        <a:defRPr/>
                      </a:pPr>
                      <a:r>
                        <a:rPr lang="en-US" sz="3000">
                          <a:solidFill>
                            <a:srgbClr val="000000"/>
                          </a:solidFill>
                          <a:latin typeface="Times New Roman"/>
                          <a:ea typeface="Times New Roman"/>
                          <a:cs typeface="Times New Roman"/>
                          <a:sym typeface="Times New Roman"/>
                        </a:rPr>
                        <a:t>Atharv Patil</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200"/>
                        </a:lnSpc>
                        <a:defRPr/>
                      </a:pPr>
                      <a:r>
                        <a:rPr lang="en-US" sz="3000">
                          <a:solidFill>
                            <a:srgbClr val="000000"/>
                          </a:solidFill>
                          <a:latin typeface="Times New Roman"/>
                          <a:ea typeface="Times New Roman"/>
                          <a:cs typeface="Times New Roman"/>
                          <a:sym typeface="Times New Roman"/>
                        </a:rPr>
                        <a:t>641</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036320">
                <a:tc>
                  <a:txBody>
                    <a:bodyPr/>
                    <a:lstStyle/>
                    <a:p>
                      <a:pPr algn="ctr">
                        <a:lnSpc>
                          <a:spcPts val="4200"/>
                        </a:lnSpc>
                        <a:defRPr/>
                      </a:pPr>
                      <a:r>
                        <a:rPr lang="en-US" sz="3000">
                          <a:solidFill>
                            <a:srgbClr val="000000"/>
                          </a:solidFill>
                          <a:latin typeface="Times New Roman"/>
                          <a:ea typeface="Times New Roman"/>
                          <a:cs typeface="Times New Roman"/>
                          <a:sym typeface="Times New Roman"/>
                        </a:rPr>
                        <a:t>Rudra Pawar</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200"/>
                        </a:lnSpc>
                        <a:defRPr/>
                      </a:pPr>
                      <a:r>
                        <a:rPr lang="en-US" sz="3000">
                          <a:solidFill>
                            <a:srgbClr val="000000"/>
                          </a:solidFill>
                          <a:latin typeface="Times New Roman"/>
                          <a:ea typeface="Times New Roman"/>
                          <a:cs typeface="Times New Roman"/>
                          <a:sym typeface="Times New Roman"/>
                        </a:rPr>
                        <a:t>644</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036320">
                <a:tc>
                  <a:txBody>
                    <a:bodyPr/>
                    <a:lstStyle/>
                    <a:p>
                      <a:pPr algn="ctr">
                        <a:lnSpc>
                          <a:spcPts val="4200"/>
                        </a:lnSpc>
                        <a:defRPr/>
                      </a:pPr>
                      <a:r>
                        <a:rPr lang="en-US" sz="3000">
                          <a:solidFill>
                            <a:srgbClr val="000000"/>
                          </a:solidFill>
                          <a:latin typeface="Times New Roman"/>
                          <a:ea typeface="Times New Roman"/>
                          <a:cs typeface="Times New Roman"/>
                          <a:sym typeface="Times New Roman"/>
                        </a:rPr>
                        <a:t>Darshan Pawar</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200"/>
                        </a:lnSpc>
                        <a:defRPr/>
                      </a:pPr>
                      <a:r>
                        <a:rPr lang="en-US" sz="3000">
                          <a:solidFill>
                            <a:srgbClr val="000000"/>
                          </a:solidFill>
                          <a:latin typeface="Times New Roman"/>
                          <a:ea typeface="Times New Roman"/>
                          <a:cs typeface="Times New Roman"/>
                          <a:sym typeface="Times New Roman"/>
                        </a:rPr>
                        <a:t>643</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036320">
                <a:tc>
                  <a:txBody>
                    <a:bodyPr/>
                    <a:lstStyle/>
                    <a:p>
                      <a:pPr algn="ctr">
                        <a:lnSpc>
                          <a:spcPts val="4199"/>
                        </a:lnSpc>
                        <a:defRPr/>
                      </a:pPr>
                      <a:r>
                        <a:rPr lang="en-US" sz="2999">
                          <a:solidFill>
                            <a:srgbClr val="000000"/>
                          </a:solidFill>
                          <a:latin typeface="Times New Roman"/>
                          <a:ea typeface="Times New Roman"/>
                          <a:cs typeface="Times New Roman"/>
                          <a:sym typeface="Times New Roman"/>
                        </a:rPr>
                        <a:t>Amish Koli</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200"/>
                        </a:lnSpc>
                        <a:defRPr/>
                      </a:pPr>
                      <a:r>
                        <a:rPr lang="en-US" sz="3000">
                          <a:solidFill>
                            <a:srgbClr val="000000"/>
                          </a:solidFill>
                          <a:latin typeface="Times New Roman"/>
                          <a:ea typeface="Times New Roman"/>
                          <a:cs typeface="Times New Roman"/>
                          <a:sym typeface="Times New Roman"/>
                        </a:rPr>
                        <a:t>628</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4" name="TextBox 4"/>
          <p:cNvSpPr txBox="1"/>
          <p:nvPr/>
        </p:nvSpPr>
        <p:spPr>
          <a:xfrm>
            <a:off x="5151179" y="1823844"/>
            <a:ext cx="7985641" cy="375285"/>
          </a:xfrm>
          <a:prstGeom prst="rect">
            <a:avLst/>
          </a:prstGeom>
        </p:spPr>
        <p:txBody>
          <a:bodyPr lIns="0" tIns="0" rIns="0" bIns="0" rtlCol="0" anchor="t">
            <a:spAutoFit/>
          </a:bodyPr>
          <a:lstStyle/>
          <a:p>
            <a:pPr algn="ctr">
              <a:lnSpc>
                <a:spcPts val="2940"/>
              </a:lnSpc>
              <a:spcBef>
                <a:spcPct val="0"/>
              </a:spcBef>
            </a:pPr>
            <a:r>
              <a:rPr lang="en-US" sz="2100">
                <a:solidFill>
                  <a:srgbClr val="000000"/>
                </a:solidFill>
                <a:latin typeface="Times New Roman"/>
                <a:ea typeface="Times New Roman"/>
                <a:cs typeface="Times New Roman"/>
                <a:sym typeface="Times New Roman"/>
              </a:rPr>
              <a:t>DEPARTMENT OF ARITIFICAL INTELLIGENCE &amp; DATA SCIENCE</a:t>
            </a:r>
          </a:p>
        </p:txBody>
      </p:sp>
      <p:sp>
        <p:nvSpPr>
          <p:cNvPr id="5" name="TextBox 5"/>
          <p:cNvSpPr txBox="1"/>
          <p:nvPr/>
        </p:nvSpPr>
        <p:spPr>
          <a:xfrm>
            <a:off x="5186682" y="2135972"/>
            <a:ext cx="7914637" cy="1995812"/>
          </a:xfrm>
          <a:prstGeom prst="rect">
            <a:avLst/>
          </a:prstGeom>
        </p:spPr>
        <p:txBody>
          <a:bodyPr lIns="0" tIns="0" rIns="0" bIns="0" rtlCol="0" anchor="t">
            <a:spAutoFit/>
          </a:bodyPr>
          <a:lstStyle/>
          <a:p>
            <a:pPr algn="ctr">
              <a:lnSpc>
                <a:spcPts val="5739"/>
              </a:lnSpc>
            </a:pPr>
            <a:r>
              <a:rPr lang="en-US" sz="4099">
                <a:solidFill>
                  <a:srgbClr val="000000"/>
                </a:solidFill>
                <a:latin typeface="Times New Roman"/>
                <a:ea typeface="Times New Roman"/>
                <a:cs typeface="Times New Roman"/>
                <a:sym typeface="Times New Roman"/>
              </a:rPr>
              <a:t>Mini Project on</a:t>
            </a:r>
          </a:p>
          <a:p>
            <a:pPr algn="ctr">
              <a:lnSpc>
                <a:spcPts val="5739"/>
              </a:lnSpc>
            </a:pPr>
            <a:r>
              <a:rPr lang="en-US" sz="4099">
                <a:solidFill>
                  <a:srgbClr val="000000"/>
                </a:solidFill>
                <a:latin typeface="Times New Roman"/>
                <a:ea typeface="Times New Roman"/>
                <a:cs typeface="Times New Roman"/>
                <a:sym typeface="Times New Roman"/>
              </a:rPr>
              <a:t>‘</a:t>
            </a:r>
            <a:r>
              <a:rPr lang="en-US" sz="4099" b="1">
                <a:solidFill>
                  <a:srgbClr val="000000"/>
                </a:solidFill>
                <a:latin typeface="Times New Roman Bold"/>
                <a:ea typeface="Times New Roman Bold"/>
                <a:cs typeface="Times New Roman Bold"/>
                <a:sym typeface="Times New Roman Bold"/>
              </a:rPr>
              <a:t>XAI Intrusion Detection System</a:t>
            </a:r>
            <a:r>
              <a:rPr lang="en-US" sz="4099">
                <a:solidFill>
                  <a:srgbClr val="000000"/>
                </a:solidFill>
                <a:latin typeface="Times New Roman"/>
                <a:ea typeface="Times New Roman"/>
                <a:cs typeface="Times New Roman"/>
                <a:sym typeface="Times New Roman"/>
              </a:rPr>
              <a:t>’</a:t>
            </a:r>
          </a:p>
          <a:p>
            <a:pPr algn="ctr">
              <a:lnSpc>
                <a:spcPts val="4200"/>
              </a:lnSpc>
              <a:spcBef>
                <a:spcPct val="0"/>
              </a:spcBef>
            </a:pPr>
            <a:r>
              <a:rPr lang="en-US" sz="3000">
                <a:solidFill>
                  <a:srgbClr val="000000"/>
                </a:solidFill>
                <a:latin typeface="Times New Roman"/>
                <a:ea typeface="Times New Roman"/>
                <a:cs typeface="Times New Roman"/>
                <a:sym typeface="Times New Roman"/>
              </a:rPr>
              <a:t>Project Guide: </a:t>
            </a:r>
            <a:r>
              <a:rPr lang="en-US" sz="3000" b="1">
                <a:solidFill>
                  <a:srgbClr val="000000"/>
                </a:solidFill>
                <a:latin typeface="Times New Roman Bold"/>
                <a:ea typeface="Times New Roman Bold"/>
                <a:cs typeface="Times New Roman Bold"/>
                <a:sym typeface="Times New Roman Bold"/>
              </a:rPr>
              <a:t>Prof. Samrin Pabrekar</a:t>
            </a:r>
          </a:p>
        </p:txBody>
      </p:sp>
      <p:sp>
        <p:nvSpPr>
          <p:cNvPr id="6" name="TextBox 6"/>
          <p:cNvSpPr txBox="1"/>
          <p:nvPr/>
        </p:nvSpPr>
        <p:spPr>
          <a:xfrm>
            <a:off x="7124490" y="4254799"/>
            <a:ext cx="4039020" cy="588861"/>
          </a:xfrm>
          <a:prstGeom prst="rect">
            <a:avLst/>
          </a:prstGeom>
        </p:spPr>
        <p:txBody>
          <a:bodyPr lIns="0" tIns="0" rIns="0" bIns="0" rtlCol="0" anchor="t">
            <a:spAutoFit/>
          </a:bodyPr>
          <a:lstStyle/>
          <a:p>
            <a:pPr algn="ctr">
              <a:lnSpc>
                <a:spcPts val="4649"/>
              </a:lnSpc>
              <a:spcBef>
                <a:spcPct val="0"/>
              </a:spcBef>
            </a:pPr>
            <a:r>
              <a:rPr lang="en-US" sz="3321">
                <a:solidFill>
                  <a:srgbClr val="000000"/>
                </a:solidFill>
                <a:latin typeface="Times New Roman"/>
                <a:ea typeface="Times New Roman"/>
                <a:cs typeface="Times New Roman"/>
                <a:sym typeface="Times New Roman"/>
              </a:rPr>
              <a:t>Project Team Members: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402945" y="0"/>
            <a:ext cx="11482111" cy="2240747"/>
          </a:xfrm>
          <a:custGeom>
            <a:avLst/>
            <a:gdLst/>
            <a:ahLst/>
            <a:cxnLst/>
            <a:rect l="l" t="t" r="r" b="b"/>
            <a:pathLst>
              <a:path w="11482111" h="2240747">
                <a:moveTo>
                  <a:pt x="0" y="0"/>
                </a:moveTo>
                <a:lnTo>
                  <a:pt x="11482110" y="0"/>
                </a:lnTo>
                <a:lnTo>
                  <a:pt x="11482110" y="2240747"/>
                </a:lnTo>
                <a:lnTo>
                  <a:pt x="0" y="2240747"/>
                </a:lnTo>
                <a:lnTo>
                  <a:pt x="0" y="0"/>
                </a:lnTo>
                <a:close/>
              </a:path>
            </a:pathLst>
          </a:custGeom>
          <a:blipFill>
            <a:blip r:embed="rId2"/>
            <a:stretch>
              <a:fillRect b="-4990"/>
            </a:stretch>
          </a:blipFill>
          <a:ln cap="sq">
            <a:noFill/>
            <a:prstDash val="solid"/>
            <a:miter/>
          </a:ln>
        </p:spPr>
      </p:sp>
      <p:sp>
        <p:nvSpPr>
          <p:cNvPr id="3" name="TextBox 3"/>
          <p:cNvSpPr txBox="1"/>
          <p:nvPr/>
        </p:nvSpPr>
        <p:spPr>
          <a:xfrm>
            <a:off x="5151179" y="1823844"/>
            <a:ext cx="7985641" cy="375285"/>
          </a:xfrm>
          <a:prstGeom prst="rect">
            <a:avLst/>
          </a:prstGeom>
        </p:spPr>
        <p:txBody>
          <a:bodyPr lIns="0" tIns="0" rIns="0" bIns="0" rtlCol="0" anchor="t">
            <a:spAutoFit/>
          </a:bodyPr>
          <a:lstStyle/>
          <a:p>
            <a:pPr algn="ctr">
              <a:lnSpc>
                <a:spcPts val="2940"/>
              </a:lnSpc>
              <a:spcBef>
                <a:spcPct val="0"/>
              </a:spcBef>
            </a:pPr>
            <a:r>
              <a:rPr lang="en-US" sz="2100">
                <a:solidFill>
                  <a:srgbClr val="000000"/>
                </a:solidFill>
                <a:latin typeface="Times New Roman"/>
                <a:ea typeface="Times New Roman"/>
                <a:cs typeface="Times New Roman"/>
                <a:sym typeface="Times New Roman"/>
              </a:rPr>
              <a:t>DEPARTMENT OF ARITIFICAL INTELLIGENCE &amp; DATA SCIENCE</a:t>
            </a:r>
          </a:p>
        </p:txBody>
      </p:sp>
      <p:sp>
        <p:nvSpPr>
          <p:cNvPr id="4" name="TextBox 4"/>
          <p:cNvSpPr txBox="1"/>
          <p:nvPr/>
        </p:nvSpPr>
        <p:spPr>
          <a:xfrm>
            <a:off x="1038225" y="2781300"/>
            <a:ext cx="2703088" cy="823559"/>
          </a:xfrm>
          <a:prstGeom prst="rect">
            <a:avLst/>
          </a:prstGeom>
        </p:spPr>
        <p:txBody>
          <a:bodyPr lIns="0" tIns="0" rIns="0" bIns="0" rtlCol="0" anchor="t">
            <a:spAutoFit/>
          </a:bodyPr>
          <a:lstStyle/>
          <a:p>
            <a:pPr algn="l">
              <a:lnSpc>
                <a:spcPts val="7000"/>
              </a:lnSpc>
              <a:spcBef>
                <a:spcPct val="0"/>
              </a:spcBef>
            </a:pPr>
            <a:r>
              <a:rPr lang="en-US" sz="4000" b="1" dirty="0">
                <a:solidFill>
                  <a:srgbClr val="000000"/>
                </a:solidFill>
                <a:latin typeface="Times New Roman Bold"/>
                <a:ea typeface="Times New Roman Bold"/>
                <a:cs typeface="Times New Roman Bold"/>
                <a:sym typeface="Times New Roman Bold"/>
              </a:rPr>
              <a:t>Abstract</a:t>
            </a:r>
            <a:r>
              <a:rPr lang="en-US" sz="5000" b="1" dirty="0">
                <a:solidFill>
                  <a:srgbClr val="000000"/>
                </a:solidFill>
                <a:latin typeface="Times New Roman Bold"/>
                <a:ea typeface="Times New Roman Bold"/>
                <a:cs typeface="Times New Roman Bold"/>
                <a:sym typeface="Times New Roman Bold"/>
              </a:rPr>
              <a:t>:</a:t>
            </a:r>
          </a:p>
        </p:txBody>
      </p:sp>
      <p:sp>
        <p:nvSpPr>
          <p:cNvPr id="5" name="TextBox 5"/>
          <p:cNvSpPr txBox="1"/>
          <p:nvPr/>
        </p:nvSpPr>
        <p:spPr>
          <a:xfrm>
            <a:off x="1038225" y="3873963"/>
            <a:ext cx="16230600" cy="4001032"/>
          </a:xfrm>
          <a:prstGeom prst="rect">
            <a:avLst/>
          </a:prstGeom>
        </p:spPr>
        <p:txBody>
          <a:bodyPr lIns="0" tIns="0" rIns="0" bIns="0" rtlCol="0" anchor="t">
            <a:spAutoFit/>
          </a:bodyPr>
          <a:lstStyle/>
          <a:p>
            <a:pPr algn="just">
              <a:lnSpc>
                <a:spcPts val="4480"/>
              </a:lnSpc>
              <a:spcBef>
                <a:spcPct val="0"/>
              </a:spcBef>
            </a:pPr>
            <a:r>
              <a:rPr lang="en-US" sz="3200" dirty="0">
                <a:latin typeface="Times New Roman" panose="02020603050405020304" pitchFamily="18" charset="0"/>
                <a:cs typeface="Times New Roman" panose="02020603050405020304" pitchFamily="18" charset="0"/>
              </a:rPr>
              <a:t>With the rapid growth of digital infrastructure, cyber attacks such as DDoS, brute-force attacks, malware traffic, and insider threats have become increasingly common. Traditional Intrusion Detection Systems generate excessive false alerts and lack transparency in their decisions. This project proposes a web-based Explainable AI-driven Intrusion Detection System that detects cyber attacks and provides human-readable explanations for each detection. The system aims to reduce false positives, improve detection accuracy, and present actionable security insights through an interactive dashboard.</a:t>
            </a:r>
            <a:endParaRPr lang="en-US" sz="32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402945" y="0"/>
            <a:ext cx="11482111" cy="2240747"/>
          </a:xfrm>
          <a:custGeom>
            <a:avLst/>
            <a:gdLst/>
            <a:ahLst/>
            <a:cxnLst/>
            <a:rect l="l" t="t" r="r" b="b"/>
            <a:pathLst>
              <a:path w="11482111" h="2240747">
                <a:moveTo>
                  <a:pt x="0" y="0"/>
                </a:moveTo>
                <a:lnTo>
                  <a:pt x="11482110" y="0"/>
                </a:lnTo>
                <a:lnTo>
                  <a:pt x="11482110" y="2240747"/>
                </a:lnTo>
                <a:lnTo>
                  <a:pt x="0" y="2240747"/>
                </a:lnTo>
                <a:lnTo>
                  <a:pt x="0" y="0"/>
                </a:lnTo>
                <a:close/>
              </a:path>
            </a:pathLst>
          </a:custGeom>
          <a:blipFill>
            <a:blip r:embed="rId2"/>
            <a:stretch>
              <a:fillRect b="-4990"/>
            </a:stretch>
          </a:blipFill>
          <a:ln cap="sq">
            <a:noFill/>
            <a:prstDash val="solid"/>
            <a:miter/>
          </a:ln>
        </p:spPr>
      </p:sp>
      <p:sp>
        <p:nvSpPr>
          <p:cNvPr id="3" name="TextBox 3"/>
          <p:cNvSpPr txBox="1"/>
          <p:nvPr/>
        </p:nvSpPr>
        <p:spPr>
          <a:xfrm>
            <a:off x="5151179" y="1823844"/>
            <a:ext cx="7985641" cy="375285"/>
          </a:xfrm>
          <a:prstGeom prst="rect">
            <a:avLst/>
          </a:prstGeom>
        </p:spPr>
        <p:txBody>
          <a:bodyPr lIns="0" tIns="0" rIns="0" bIns="0" rtlCol="0" anchor="t">
            <a:spAutoFit/>
          </a:bodyPr>
          <a:lstStyle/>
          <a:p>
            <a:pPr algn="ctr">
              <a:lnSpc>
                <a:spcPts val="2940"/>
              </a:lnSpc>
              <a:spcBef>
                <a:spcPct val="0"/>
              </a:spcBef>
            </a:pPr>
            <a:r>
              <a:rPr lang="en-US" sz="2100">
                <a:solidFill>
                  <a:srgbClr val="000000"/>
                </a:solidFill>
                <a:latin typeface="Times New Roman"/>
                <a:ea typeface="Times New Roman"/>
                <a:cs typeface="Times New Roman"/>
                <a:sym typeface="Times New Roman"/>
              </a:rPr>
              <a:t>DEPARTMENT OF ARITIFICAL INTELLIGENCE &amp; DATA SCIENCE</a:t>
            </a:r>
          </a:p>
        </p:txBody>
      </p:sp>
      <p:sp>
        <p:nvSpPr>
          <p:cNvPr id="4" name="TextBox 4"/>
          <p:cNvSpPr txBox="1"/>
          <p:nvPr/>
        </p:nvSpPr>
        <p:spPr>
          <a:xfrm>
            <a:off x="1028700" y="2645575"/>
            <a:ext cx="3961384" cy="823559"/>
          </a:xfrm>
          <a:prstGeom prst="rect">
            <a:avLst/>
          </a:prstGeom>
        </p:spPr>
        <p:txBody>
          <a:bodyPr lIns="0" tIns="0" rIns="0" bIns="0" rtlCol="0" anchor="t">
            <a:spAutoFit/>
          </a:bodyPr>
          <a:lstStyle/>
          <a:p>
            <a:pPr algn="l">
              <a:lnSpc>
                <a:spcPts val="7000"/>
              </a:lnSpc>
              <a:spcBef>
                <a:spcPct val="0"/>
              </a:spcBef>
            </a:pPr>
            <a:r>
              <a:rPr lang="en-US" sz="4000" b="1" dirty="0">
                <a:solidFill>
                  <a:srgbClr val="000000"/>
                </a:solidFill>
                <a:latin typeface="Times New Roman Bold"/>
                <a:ea typeface="Times New Roman Bold"/>
                <a:cs typeface="Times New Roman Bold"/>
                <a:sym typeface="Times New Roman Bold"/>
              </a:rPr>
              <a:t>Introduction</a:t>
            </a:r>
            <a:r>
              <a:rPr lang="en-US" sz="5000" b="1" dirty="0">
                <a:solidFill>
                  <a:srgbClr val="000000"/>
                </a:solidFill>
                <a:latin typeface="Times New Roman Bold"/>
                <a:ea typeface="Times New Roman Bold"/>
                <a:cs typeface="Times New Roman Bold"/>
                <a:sym typeface="Times New Roman Bold"/>
              </a:rPr>
              <a:t>:</a:t>
            </a:r>
          </a:p>
        </p:txBody>
      </p:sp>
      <p:sp>
        <p:nvSpPr>
          <p:cNvPr id="5" name="TextBox 5"/>
          <p:cNvSpPr txBox="1"/>
          <p:nvPr/>
        </p:nvSpPr>
        <p:spPr>
          <a:xfrm>
            <a:off x="1028700" y="3873963"/>
            <a:ext cx="16230600" cy="4924425"/>
          </a:xfrm>
          <a:prstGeom prst="rect">
            <a:avLst/>
          </a:prstGeom>
        </p:spPr>
        <p:txBody>
          <a:bodyPr lIns="0" tIns="0" rIns="0" bIns="0" rtlCol="0" anchor="t">
            <a:spAutoFit/>
          </a:bodyPr>
          <a:lstStyle/>
          <a:p>
            <a:pPr algn="just"/>
            <a:r>
              <a:rPr lang="en-US" sz="3200" dirty="0">
                <a:latin typeface="Times New Roman" panose="02020603050405020304" pitchFamily="18" charset="0"/>
                <a:cs typeface="Times New Roman" panose="02020603050405020304" pitchFamily="18" charset="0"/>
              </a:rPr>
              <a:t>Cyber security plays a vital role in protecting sensitive data and digital assets of modern organizations such as banks, enterprises, universities, and cloud platforms. These organizations face continuously evolving cyber threats that traditional security mechanisms struggle to handle effectively. Intrusion Detection Systems are used to monitor network traffic and detect malicious activities; however, conventional systems rely on static rules and signatures, leading to high false alerts and limited adaptability. While machine learning techniques improve detection accuracy, most ML-based systems function as black boxes, making their decisions difficult to interpret and trust. To address this challenge, Explainable Artificial Intelligence is introduced to enhance transparency and reliability in intrusion detection systems, enabling more effective and trustworthy security operations.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402945" y="0"/>
            <a:ext cx="11482111" cy="2240747"/>
          </a:xfrm>
          <a:custGeom>
            <a:avLst/>
            <a:gdLst/>
            <a:ahLst/>
            <a:cxnLst/>
            <a:rect l="l" t="t" r="r" b="b"/>
            <a:pathLst>
              <a:path w="11482111" h="2240747">
                <a:moveTo>
                  <a:pt x="0" y="0"/>
                </a:moveTo>
                <a:lnTo>
                  <a:pt x="11482110" y="0"/>
                </a:lnTo>
                <a:lnTo>
                  <a:pt x="11482110" y="2240747"/>
                </a:lnTo>
                <a:lnTo>
                  <a:pt x="0" y="2240747"/>
                </a:lnTo>
                <a:lnTo>
                  <a:pt x="0" y="0"/>
                </a:lnTo>
                <a:close/>
              </a:path>
            </a:pathLst>
          </a:custGeom>
          <a:blipFill>
            <a:blip r:embed="rId2"/>
            <a:stretch>
              <a:fillRect b="-4990"/>
            </a:stretch>
          </a:blipFill>
          <a:ln cap="sq">
            <a:noFill/>
            <a:prstDash val="solid"/>
            <a:miter/>
          </a:ln>
        </p:spPr>
      </p:sp>
      <p:graphicFrame>
        <p:nvGraphicFramePr>
          <p:cNvPr id="3" name="Table 3"/>
          <p:cNvGraphicFramePr>
            <a:graphicFrameLocks noGrp="1"/>
          </p:cNvGraphicFramePr>
          <p:nvPr>
            <p:extLst>
              <p:ext uri="{D42A27DB-BD31-4B8C-83A1-F6EECF244321}">
                <p14:modId xmlns:p14="http://schemas.microsoft.com/office/powerpoint/2010/main" val="1640057363"/>
              </p:ext>
            </p:extLst>
          </p:nvPr>
        </p:nvGraphicFramePr>
        <p:xfrm>
          <a:off x="1595073" y="2725079"/>
          <a:ext cx="15097852" cy="7330448"/>
        </p:xfrm>
        <a:graphic>
          <a:graphicData uri="http://schemas.openxmlformats.org/drawingml/2006/table">
            <a:tbl>
              <a:tblPr/>
              <a:tblGrid>
                <a:gridCol w="3458571">
                  <a:extLst>
                    <a:ext uri="{9D8B030D-6E8A-4147-A177-3AD203B41FA5}">
                      <a16:colId xmlns:a16="http://schemas.microsoft.com/office/drawing/2014/main" val="20000"/>
                    </a:ext>
                  </a:extLst>
                </a:gridCol>
                <a:gridCol w="2334388">
                  <a:extLst>
                    <a:ext uri="{9D8B030D-6E8A-4147-A177-3AD203B41FA5}">
                      <a16:colId xmlns:a16="http://schemas.microsoft.com/office/drawing/2014/main" val="20001"/>
                    </a:ext>
                  </a:extLst>
                </a:gridCol>
                <a:gridCol w="2379522">
                  <a:extLst>
                    <a:ext uri="{9D8B030D-6E8A-4147-A177-3AD203B41FA5}">
                      <a16:colId xmlns:a16="http://schemas.microsoft.com/office/drawing/2014/main" val="20002"/>
                    </a:ext>
                  </a:extLst>
                </a:gridCol>
                <a:gridCol w="3129788">
                  <a:extLst>
                    <a:ext uri="{9D8B030D-6E8A-4147-A177-3AD203B41FA5}">
                      <a16:colId xmlns:a16="http://schemas.microsoft.com/office/drawing/2014/main" val="20003"/>
                    </a:ext>
                  </a:extLst>
                </a:gridCol>
                <a:gridCol w="3795583">
                  <a:extLst>
                    <a:ext uri="{9D8B030D-6E8A-4147-A177-3AD203B41FA5}">
                      <a16:colId xmlns:a16="http://schemas.microsoft.com/office/drawing/2014/main" val="20004"/>
                    </a:ext>
                  </a:extLst>
                </a:gridCol>
              </a:tblGrid>
              <a:tr h="1030252">
                <a:tc>
                  <a:txBody>
                    <a:bodyPr/>
                    <a:lstStyle/>
                    <a:p>
                      <a:pPr algn="ctr">
                        <a:lnSpc>
                          <a:spcPts val="3500"/>
                        </a:lnSpc>
                        <a:defRPr/>
                      </a:pPr>
                      <a:r>
                        <a:rPr lang="en-US" sz="2500" b="1">
                          <a:solidFill>
                            <a:srgbClr val="000000"/>
                          </a:solidFill>
                          <a:latin typeface="Times New Roman Bold"/>
                          <a:ea typeface="Times New Roman Bold"/>
                          <a:cs typeface="Times New Roman Bold"/>
                          <a:sym typeface="Times New Roman Bold"/>
                        </a:rPr>
                        <a:t>Title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ADEAF9"/>
                    </a:solidFill>
                  </a:tcPr>
                </a:tc>
                <a:tc>
                  <a:txBody>
                    <a:bodyPr/>
                    <a:lstStyle/>
                    <a:p>
                      <a:pPr algn="ctr">
                        <a:lnSpc>
                          <a:spcPts val="3500"/>
                        </a:lnSpc>
                        <a:defRPr/>
                      </a:pPr>
                      <a:r>
                        <a:rPr lang="en-US" sz="2500" b="1">
                          <a:solidFill>
                            <a:srgbClr val="000000"/>
                          </a:solidFill>
                          <a:latin typeface="Times New Roman Bold"/>
                          <a:ea typeface="Times New Roman Bold"/>
                          <a:cs typeface="Times New Roman Bold"/>
                          <a:sym typeface="Times New Roman Bold"/>
                        </a:rPr>
                        <a:t>Year</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ADEAF9"/>
                    </a:solidFill>
                  </a:tcPr>
                </a:tc>
                <a:tc>
                  <a:txBody>
                    <a:bodyPr/>
                    <a:lstStyle/>
                    <a:p>
                      <a:pPr algn="ctr">
                        <a:lnSpc>
                          <a:spcPts val="3499"/>
                        </a:lnSpc>
                        <a:defRPr/>
                      </a:pPr>
                      <a:r>
                        <a:rPr lang="en-US" sz="2499" b="1">
                          <a:solidFill>
                            <a:srgbClr val="000000"/>
                          </a:solidFill>
                          <a:latin typeface="Times New Roman Bold"/>
                          <a:ea typeface="Times New Roman Bold"/>
                          <a:cs typeface="Times New Roman Bold"/>
                          <a:sym typeface="Times New Roman Bold"/>
                        </a:rPr>
                        <a:t>Author</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ADEAF9"/>
                    </a:solidFill>
                  </a:tcPr>
                </a:tc>
                <a:tc>
                  <a:txBody>
                    <a:bodyPr/>
                    <a:lstStyle/>
                    <a:p>
                      <a:pPr algn="ctr">
                        <a:lnSpc>
                          <a:spcPts val="3499"/>
                        </a:lnSpc>
                        <a:defRPr/>
                      </a:pPr>
                      <a:r>
                        <a:rPr lang="en-US" sz="2499" b="1">
                          <a:solidFill>
                            <a:srgbClr val="000000"/>
                          </a:solidFill>
                          <a:latin typeface="Times New Roman Bold"/>
                          <a:ea typeface="Times New Roman Bold"/>
                          <a:cs typeface="Times New Roman Bold"/>
                          <a:sym typeface="Times New Roman Bold"/>
                        </a:rPr>
                        <a:t>Methodology</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ADEAF9"/>
                    </a:solidFill>
                  </a:tcPr>
                </a:tc>
                <a:tc>
                  <a:txBody>
                    <a:bodyPr/>
                    <a:lstStyle/>
                    <a:p>
                      <a:pPr algn="ctr">
                        <a:lnSpc>
                          <a:spcPts val="3499"/>
                        </a:lnSpc>
                        <a:defRPr/>
                      </a:pPr>
                      <a:r>
                        <a:rPr lang="en-US" sz="2499" b="1">
                          <a:solidFill>
                            <a:srgbClr val="000000"/>
                          </a:solidFill>
                          <a:latin typeface="Times New Roman Bold"/>
                          <a:ea typeface="Times New Roman Bold"/>
                          <a:cs typeface="Times New Roman Bold"/>
                          <a:sym typeface="Times New Roman Bold"/>
                        </a:rPr>
                        <a:t>Limitations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ADEAF9"/>
                    </a:solidFill>
                  </a:tcPr>
                </a:tc>
                <a:extLst>
                  <a:ext uri="{0D108BD9-81ED-4DB2-BD59-A6C34878D82A}">
                    <a16:rowId xmlns:a16="http://schemas.microsoft.com/office/drawing/2014/main" val="10000"/>
                  </a:ext>
                </a:extLst>
              </a:tr>
              <a:tr h="3150098">
                <a:tc>
                  <a:txBody>
                    <a:bodyPr/>
                    <a:lstStyle/>
                    <a:p>
                      <a:pPr algn="l">
                        <a:lnSpc>
                          <a:spcPts val="2800"/>
                        </a:lnSpc>
                        <a:defRPr/>
                      </a:pPr>
                      <a:r>
                        <a:rPr lang="en-US" sz="2000" dirty="0">
                          <a:solidFill>
                            <a:srgbClr val="000000"/>
                          </a:solidFill>
                          <a:latin typeface="Times New Roman"/>
                          <a:ea typeface="Times New Roman"/>
                          <a:cs typeface="Times New Roman"/>
                          <a:sym typeface="Times New Roman"/>
                        </a:rPr>
                        <a:t>Deep Learning vs. Machine Learning for Intrusion Detection in Computer Networks: A Comparative Study</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Times New Roman"/>
                          <a:ea typeface="Times New Roman"/>
                          <a:cs typeface="Times New Roman"/>
                          <a:sym typeface="Times New Roman"/>
                        </a:rPr>
                        <a:t>2025</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800"/>
                        </a:lnSpc>
                        <a:defRPr/>
                      </a:pPr>
                      <a:r>
                        <a:rPr lang="en-US" sz="2000">
                          <a:solidFill>
                            <a:srgbClr val="000000"/>
                          </a:solidFill>
                          <a:latin typeface="Times New Roman"/>
                          <a:ea typeface="Times New Roman"/>
                          <a:cs typeface="Times New Roman"/>
                          <a:sym typeface="Times New Roman"/>
                        </a:rPr>
                        <a:t>Md Liakat Ali, Kutub Thakur, Suzanna Schmeelk, Joan Debello, Denise Dragos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660"/>
                        </a:lnSpc>
                        <a:defRPr/>
                      </a:pPr>
                      <a:r>
                        <a:rPr lang="en-US" sz="1900">
                          <a:solidFill>
                            <a:srgbClr val="000000"/>
                          </a:solidFill>
                          <a:latin typeface="Times New Roman"/>
                          <a:ea typeface="Times New Roman"/>
                          <a:cs typeface="Times New Roman"/>
                          <a:sym typeface="Times New Roman"/>
                        </a:rPr>
                        <a:t>Implements ML models Logistic Regression, SVM, KNN and DL models (CNN, LSTM, MLP). Uses SMOTE for balancing dataset and compares performance using accuracy and F1-score.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800"/>
                        </a:lnSpc>
                        <a:defRPr/>
                      </a:pPr>
                      <a:r>
                        <a:rPr lang="en-US" sz="2000">
                          <a:solidFill>
                            <a:srgbClr val="000000"/>
                          </a:solidFill>
                          <a:latin typeface="Times New Roman"/>
                          <a:ea typeface="Times New Roman"/>
                          <a:cs typeface="Times New Roman"/>
                          <a:sym typeface="Times New Roman"/>
                        </a:rPr>
                        <a:t>Focuses only on accuracy comparison. Does not provide explainable outputs. High computational cost and lack of interpretability.</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150098">
                <a:tc>
                  <a:txBody>
                    <a:bodyPr/>
                    <a:lstStyle/>
                    <a:p>
                      <a:pPr algn="l">
                        <a:lnSpc>
                          <a:spcPts val="2800"/>
                        </a:lnSpc>
                        <a:defRPr/>
                      </a:pPr>
                      <a:r>
                        <a:rPr lang="en-US" sz="2000">
                          <a:solidFill>
                            <a:srgbClr val="000000"/>
                          </a:solidFill>
                          <a:latin typeface="Times New Roman"/>
                          <a:ea typeface="Times New Roman"/>
                          <a:cs typeface="Times New Roman"/>
                          <a:sym typeface="Times New Roman"/>
                        </a:rPr>
                        <a:t>Machine Learning Based Intrusion Detection System</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Times New Roman"/>
                          <a:ea typeface="Times New Roman"/>
                          <a:cs typeface="Times New Roman"/>
                          <a:sym typeface="Times New Roman"/>
                        </a:rPr>
                        <a:t>2025</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800"/>
                        </a:lnSpc>
                        <a:defRPr/>
                      </a:pPr>
                      <a:r>
                        <a:rPr lang="en-US" sz="2000">
                          <a:solidFill>
                            <a:srgbClr val="000000"/>
                          </a:solidFill>
                          <a:latin typeface="Times New Roman"/>
                          <a:ea typeface="Times New Roman"/>
                          <a:cs typeface="Times New Roman"/>
                          <a:sym typeface="Times New Roman"/>
                        </a:rPr>
                        <a:t>Dr. Deepika Ajalkar, Vrushali Chavan, Pratiksha Bhosle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659"/>
                        </a:lnSpc>
                        <a:defRPr/>
                      </a:pPr>
                      <a:r>
                        <a:rPr lang="en-US" sz="1899">
                          <a:solidFill>
                            <a:srgbClr val="000000"/>
                          </a:solidFill>
                          <a:latin typeface="Times New Roman"/>
                          <a:ea typeface="Times New Roman"/>
                          <a:cs typeface="Times New Roman"/>
                          <a:sym typeface="Times New Roman"/>
                        </a:rPr>
                        <a:t>Uses supervised ML algorithms like, Decision Tree, and SVM. Includes preprocessing, model training, and alert generation modules using NSL-KDD and CICIDS datasets.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800"/>
                        </a:lnSpc>
                        <a:defRPr/>
                      </a:pPr>
                      <a:r>
                        <a:rPr lang="en-US" sz="2000" dirty="0">
                          <a:solidFill>
                            <a:srgbClr val="000000"/>
                          </a:solidFill>
                          <a:latin typeface="Times New Roman"/>
                          <a:ea typeface="Times New Roman"/>
                          <a:cs typeface="Times New Roman"/>
                          <a:sym typeface="Times New Roman"/>
                        </a:rPr>
                        <a:t>Provides detection but lacks, risk scoring, and interactive visualization. Does not provide reasoning behind predictions. </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4" name="TextBox 4"/>
          <p:cNvSpPr txBox="1"/>
          <p:nvPr/>
        </p:nvSpPr>
        <p:spPr>
          <a:xfrm>
            <a:off x="5151179" y="1823844"/>
            <a:ext cx="7985641" cy="375285"/>
          </a:xfrm>
          <a:prstGeom prst="rect">
            <a:avLst/>
          </a:prstGeom>
        </p:spPr>
        <p:txBody>
          <a:bodyPr lIns="0" tIns="0" rIns="0" bIns="0" rtlCol="0" anchor="t">
            <a:spAutoFit/>
          </a:bodyPr>
          <a:lstStyle/>
          <a:p>
            <a:pPr algn="ctr">
              <a:lnSpc>
                <a:spcPts val="2940"/>
              </a:lnSpc>
              <a:spcBef>
                <a:spcPct val="0"/>
              </a:spcBef>
            </a:pPr>
            <a:r>
              <a:rPr lang="en-US" sz="2100">
                <a:solidFill>
                  <a:srgbClr val="000000"/>
                </a:solidFill>
                <a:latin typeface="Times New Roman"/>
                <a:ea typeface="Times New Roman"/>
                <a:cs typeface="Times New Roman"/>
                <a:sym typeface="Times New Roman"/>
              </a:rPr>
              <a:t>DEPARTMENT OF ARITIFICAL INTELLIGENCE &amp; DATA SCIENCE</a:t>
            </a:r>
          </a:p>
        </p:txBody>
      </p:sp>
      <p:sp>
        <p:nvSpPr>
          <p:cNvPr id="5" name="TextBox 5"/>
          <p:cNvSpPr txBox="1"/>
          <p:nvPr/>
        </p:nvSpPr>
        <p:spPr>
          <a:xfrm>
            <a:off x="1295400" y="1864813"/>
            <a:ext cx="5148739" cy="793487"/>
          </a:xfrm>
          <a:prstGeom prst="rect">
            <a:avLst/>
          </a:prstGeom>
        </p:spPr>
        <p:txBody>
          <a:bodyPr lIns="0" tIns="0" rIns="0" bIns="0" rtlCol="0" anchor="t">
            <a:spAutoFit/>
          </a:bodyPr>
          <a:lstStyle/>
          <a:p>
            <a:pPr algn="just">
              <a:lnSpc>
                <a:spcPts val="7000"/>
              </a:lnSpc>
              <a:spcBef>
                <a:spcPct val="0"/>
              </a:spcBef>
            </a:pPr>
            <a:r>
              <a:rPr lang="en-US" sz="4000" b="1" dirty="0">
                <a:solidFill>
                  <a:srgbClr val="000000"/>
                </a:solidFill>
                <a:latin typeface="Times New Roman Bold"/>
                <a:ea typeface="Times New Roman Bold"/>
                <a:cs typeface="Times New Roman Bold"/>
                <a:sym typeface="Times New Roman Bold"/>
              </a:rPr>
              <a:t> Literature survey: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402945" y="0"/>
            <a:ext cx="11482111" cy="2240747"/>
          </a:xfrm>
          <a:custGeom>
            <a:avLst/>
            <a:gdLst/>
            <a:ahLst/>
            <a:cxnLst/>
            <a:rect l="l" t="t" r="r" b="b"/>
            <a:pathLst>
              <a:path w="11482111" h="2240747">
                <a:moveTo>
                  <a:pt x="0" y="0"/>
                </a:moveTo>
                <a:lnTo>
                  <a:pt x="11482110" y="0"/>
                </a:lnTo>
                <a:lnTo>
                  <a:pt x="11482110" y="2240747"/>
                </a:lnTo>
                <a:lnTo>
                  <a:pt x="0" y="2240747"/>
                </a:lnTo>
                <a:lnTo>
                  <a:pt x="0" y="0"/>
                </a:lnTo>
                <a:close/>
              </a:path>
            </a:pathLst>
          </a:custGeom>
          <a:blipFill>
            <a:blip r:embed="rId2"/>
            <a:stretch>
              <a:fillRect b="-4990"/>
            </a:stretch>
          </a:blipFill>
          <a:ln cap="sq">
            <a:noFill/>
            <a:prstDash val="solid"/>
            <a:miter/>
          </a:ln>
        </p:spPr>
      </p:sp>
      <p:sp>
        <p:nvSpPr>
          <p:cNvPr id="3" name="TextBox 3"/>
          <p:cNvSpPr txBox="1"/>
          <p:nvPr/>
        </p:nvSpPr>
        <p:spPr>
          <a:xfrm>
            <a:off x="5151179" y="1823844"/>
            <a:ext cx="7985641" cy="375285"/>
          </a:xfrm>
          <a:prstGeom prst="rect">
            <a:avLst/>
          </a:prstGeom>
        </p:spPr>
        <p:txBody>
          <a:bodyPr lIns="0" tIns="0" rIns="0" bIns="0" rtlCol="0" anchor="t">
            <a:spAutoFit/>
          </a:bodyPr>
          <a:lstStyle/>
          <a:p>
            <a:pPr algn="ctr">
              <a:lnSpc>
                <a:spcPts val="2940"/>
              </a:lnSpc>
              <a:spcBef>
                <a:spcPct val="0"/>
              </a:spcBef>
            </a:pPr>
            <a:r>
              <a:rPr lang="en-US" sz="2100">
                <a:solidFill>
                  <a:srgbClr val="000000"/>
                </a:solidFill>
                <a:latin typeface="Times New Roman"/>
                <a:ea typeface="Times New Roman"/>
                <a:cs typeface="Times New Roman"/>
                <a:sym typeface="Times New Roman"/>
              </a:rPr>
              <a:t>DEPARTMENT OF ARITIFICAL INTELLIGENCE &amp; DATA SCIENCE</a:t>
            </a:r>
          </a:p>
        </p:txBody>
      </p:sp>
      <p:sp>
        <p:nvSpPr>
          <p:cNvPr id="4" name="TextBox 4"/>
          <p:cNvSpPr txBox="1"/>
          <p:nvPr/>
        </p:nvSpPr>
        <p:spPr>
          <a:xfrm>
            <a:off x="1028700" y="2648584"/>
            <a:ext cx="4944940" cy="793487"/>
          </a:xfrm>
          <a:prstGeom prst="rect">
            <a:avLst/>
          </a:prstGeom>
        </p:spPr>
        <p:txBody>
          <a:bodyPr lIns="0" tIns="0" rIns="0" bIns="0" rtlCol="0" anchor="t">
            <a:spAutoFit/>
          </a:bodyPr>
          <a:lstStyle/>
          <a:p>
            <a:pPr algn="l">
              <a:lnSpc>
                <a:spcPts val="7000"/>
              </a:lnSpc>
              <a:spcBef>
                <a:spcPct val="0"/>
              </a:spcBef>
            </a:pPr>
            <a:r>
              <a:rPr lang="en-US" sz="4000" b="1" dirty="0">
                <a:solidFill>
                  <a:srgbClr val="000000"/>
                </a:solidFill>
                <a:latin typeface="Times New Roman Bold"/>
                <a:ea typeface="Times New Roman Bold"/>
                <a:cs typeface="Times New Roman Bold"/>
                <a:sym typeface="Times New Roman Bold"/>
              </a:rPr>
              <a:t>Existing System:</a:t>
            </a:r>
          </a:p>
        </p:txBody>
      </p:sp>
      <p:sp>
        <p:nvSpPr>
          <p:cNvPr id="5" name="TextBox 5"/>
          <p:cNvSpPr txBox="1"/>
          <p:nvPr/>
        </p:nvSpPr>
        <p:spPr>
          <a:xfrm>
            <a:off x="1028700" y="3695700"/>
            <a:ext cx="16230600" cy="5624195"/>
          </a:xfrm>
          <a:prstGeom prst="rect">
            <a:avLst/>
          </a:prstGeom>
        </p:spPr>
        <p:txBody>
          <a:bodyPr lIns="0" tIns="0" rIns="0" bIns="0" rtlCol="0" anchor="t">
            <a:spAutoFit/>
          </a:bodyPr>
          <a:lstStyle/>
          <a:p>
            <a:pPr algn="just">
              <a:lnSpc>
                <a:spcPts val="4480"/>
              </a:lnSpc>
            </a:pPr>
            <a:r>
              <a:rPr lang="en-US" sz="3200" dirty="0">
                <a:solidFill>
                  <a:srgbClr val="000000"/>
                </a:solidFill>
                <a:latin typeface="Times New Roman"/>
                <a:ea typeface="Times New Roman"/>
                <a:cs typeface="Times New Roman"/>
                <a:sym typeface="Times New Roman"/>
              </a:rPr>
              <a:t>The existing intrusion detection systems are primarily rule-based and signature-based tools such as Snort and Suricata. These systems analyze network packets and generate alerts based on predefined rules. While they are effective against known attacks, they produce a large number of false alerts and are unable to detect zero-day attacks.</a:t>
            </a:r>
          </a:p>
          <a:p>
            <a:pPr algn="just">
              <a:lnSpc>
                <a:spcPts val="4480"/>
              </a:lnSpc>
            </a:pPr>
            <a:endParaRPr lang="en-US" sz="3200" dirty="0">
              <a:solidFill>
                <a:srgbClr val="000000"/>
              </a:solidFill>
              <a:latin typeface="Times New Roman"/>
              <a:ea typeface="Times New Roman"/>
              <a:cs typeface="Times New Roman"/>
              <a:sym typeface="Times New Roman"/>
            </a:endParaRPr>
          </a:p>
          <a:p>
            <a:pPr algn="just">
              <a:lnSpc>
                <a:spcPts val="4480"/>
              </a:lnSpc>
            </a:pPr>
            <a:r>
              <a:rPr lang="en-US" sz="3200" dirty="0">
                <a:solidFill>
                  <a:srgbClr val="000000"/>
                </a:solidFill>
                <a:latin typeface="Times New Roman"/>
                <a:ea typeface="Times New Roman"/>
                <a:cs typeface="Times New Roman"/>
                <a:sym typeface="Times New Roman"/>
              </a:rPr>
              <a:t>Traditional IDS tools like:</a:t>
            </a:r>
          </a:p>
          <a:p>
            <a:pPr marL="690881" lvl="1" indent="-345440" algn="just">
              <a:lnSpc>
                <a:spcPts val="4480"/>
              </a:lnSpc>
              <a:buFont typeface="Arial"/>
              <a:buChar char="•"/>
            </a:pPr>
            <a:r>
              <a:rPr lang="en-US" sz="3200" dirty="0">
                <a:solidFill>
                  <a:srgbClr val="000000"/>
                </a:solidFill>
                <a:latin typeface="Times New Roman"/>
                <a:ea typeface="Times New Roman"/>
                <a:cs typeface="Times New Roman"/>
                <a:sym typeface="Times New Roman"/>
              </a:rPr>
              <a:t>Snort</a:t>
            </a:r>
          </a:p>
          <a:p>
            <a:pPr marL="690881" lvl="1" indent="-345440" algn="just">
              <a:lnSpc>
                <a:spcPts val="4480"/>
              </a:lnSpc>
              <a:buFont typeface="Arial"/>
              <a:buChar char="•"/>
            </a:pPr>
            <a:r>
              <a:rPr lang="en-US" sz="3200" dirty="0">
                <a:solidFill>
                  <a:srgbClr val="000000"/>
                </a:solidFill>
                <a:latin typeface="Times New Roman"/>
                <a:ea typeface="Times New Roman"/>
                <a:cs typeface="Times New Roman"/>
                <a:sym typeface="Times New Roman"/>
              </a:rPr>
              <a:t>Suricata</a:t>
            </a:r>
          </a:p>
          <a:p>
            <a:pPr marL="690881" lvl="1" indent="-345440" algn="just">
              <a:lnSpc>
                <a:spcPts val="4480"/>
              </a:lnSpc>
              <a:buFont typeface="Arial"/>
              <a:buChar char="•"/>
            </a:pPr>
            <a:r>
              <a:rPr lang="en-US" sz="3200" dirty="0">
                <a:solidFill>
                  <a:srgbClr val="000000"/>
                </a:solidFill>
                <a:latin typeface="Times New Roman"/>
                <a:ea typeface="Times New Roman"/>
                <a:cs typeface="Times New Roman"/>
                <a:sym typeface="Times New Roman"/>
              </a:rPr>
              <a:t>OSSEC</a:t>
            </a:r>
          </a:p>
          <a:p>
            <a:pPr algn="just">
              <a:lnSpc>
                <a:spcPts val="4480"/>
              </a:lnSpc>
              <a:spcBef>
                <a:spcPct val="0"/>
              </a:spcBef>
            </a:pPr>
            <a:r>
              <a:rPr lang="en-US" sz="3200" dirty="0">
                <a:solidFill>
                  <a:srgbClr val="000000"/>
                </a:solidFill>
                <a:latin typeface="Times New Roman"/>
                <a:ea typeface="Times New Roman"/>
                <a:cs typeface="Times New Roman"/>
                <a:sym typeface="Times New Roman"/>
              </a:rPr>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402945" y="0"/>
            <a:ext cx="11482111" cy="2240747"/>
          </a:xfrm>
          <a:custGeom>
            <a:avLst/>
            <a:gdLst/>
            <a:ahLst/>
            <a:cxnLst/>
            <a:rect l="l" t="t" r="r" b="b"/>
            <a:pathLst>
              <a:path w="11482111" h="2240747">
                <a:moveTo>
                  <a:pt x="0" y="0"/>
                </a:moveTo>
                <a:lnTo>
                  <a:pt x="11482110" y="0"/>
                </a:lnTo>
                <a:lnTo>
                  <a:pt x="11482110" y="2240747"/>
                </a:lnTo>
                <a:lnTo>
                  <a:pt x="0" y="2240747"/>
                </a:lnTo>
                <a:lnTo>
                  <a:pt x="0" y="0"/>
                </a:lnTo>
                <a:close/>
              </a:path>
            </a:pathLst>
          </a:custGeom>
          <a:blipFill>
            <a:blip r:embed="rId2"/>
            <a:stretch>
              <a:fillRect b="-4990"/>
            </a:stretch>
          </a:blipFill>
          <a:ln cap="sq">
            <a:noFill/>
            <a:prstDash val="solid"/>
            <a:miter/>
          </a:ln>
        </p:spPr>
      </p:sp>
      <p:sp>
        <p:nvSpPr>
          <p:cNvPr id="3" name="TextBox 3"/>
          <p:cNvSpPr txBox="1"/>
          <p:nvPr/>
        </p:nvSpPr>
        <p:spPr>
          <a:xfrm>
            <a:off x="5151179" y="1823844"/>
            <a:ext cx="7985641" cy="375285"/>
          </a:xfrm>
          <a:prstGeom prst="rect">
            <a:avLst/>
          </a:prstGeom>
        </p:spPr>
        <p:txBody>
          <a:bodyPr lIns="0" tIns="0" rIns="0" bIns="0" rtlCol="0" anchor="t">
            <a:spAutoFit/>
          </a:bodyPr>
          <a:lstStyle/>
          <a:p>
            <a:pPr algn="ctr">
              <a:lnSpc>
                <a:spcPts val="2940"/>
              </a:lnSpc>
              <a:spcBef>
                <a:spcPct val="0"/>
              </a:spcBef>
            </a:pPr>
            <a:r>
              <a:rPr lang="en-US" sz="2100">
                <a:solidFill>
                  <a:srgbClr val="000000"/>
                </a:solidFill>
                <a:latin typeface="Times New Roman"/>
                <a:ea typeface="Times New Roman"/>
                <a:cs typeface="Times New Roman"/>
                <a:sym typeface="Times New Roman"/>
              </a:rPr>
              <a:t>DEPARTMENT OF ARITIFICAL INTELLIGENCE &amp; DATA SCIENCE</a:t>
            </a:r>
          </a:p>
        </p:txBody>
      </p:sp>
      <p:sp>
        <p:nvSpPr>
          <p:cNvPr id="4" name="TextBox 4"/>
          <p:cNvSpPr txBox="1"/>
          <p:nvPr/>
        </p:nvSpPr>
        <p:spPr>
          <a:xfrm>
            <a:off x="903708" y="2670336"/>
            <a:ext cx="4998474" cy="2663825"/>
          </a:xfrm>
          <a:prstGeom prst="rect">
            <a:avLst/>
          </a:prstGeom>
        </p:spPr>
        <p:txBody>
          <a:bodyPr wrap="square" lIns="0" tIns="0" rIns="0" bIns="0" rtlCol="0" anchor="t">
            <a:spAutoFit/>
          </a:bodyPr>
          <a:lstStyle/>
          <a:p>
            <a:pPr algn="l">
              <a:lnSpc>
                <a:spcPts val="7000"/>
              </a:lnSpc>
            </a:pPr>
            <a:r>
              <a:rPr lang="en-US" sz="4000" b="1" dirty="0">
                <a:solidFill>
                  <a:srgbClr val="000000"/>
                </a:solidFill>
                <a:latin typeface="Times New Roman Bold"/>
                <a:ea typeface="Times New Roman Bold"/>
                <a:cs typeface="Times New Roman Bold"/>
                <a:sym typeface="Times New Roman Bold"/>
              </a:rPr>
              <a:t>Problem Statement:</a:t>
            </a:r>
          </a:p>
          <a:p>
            <a:pPr algn="l">
              <a:lnSpc>
                <a:spcPts val="7000"/>
              </a:lnSpc>
            </a:pPr>
            <a:endParaRPr lang="en-US" sz="4000" b="1" dirty="0">
              <a:solidFill>
                <a:srgbClr val="000000"/>
              </a:solidFill>
              <a:latin typeface="Times New Roman Bold"/>
              <a:ea typeface="Times New Roman Bold"/>
              <a:cs typeface="Times New Roman Bold"/>
              <a:sym typeface="Times New Roman Bold"/>
            </a:endParaRPr>
          </a:p>
          <a:p>
            <a:pPr algn="l">
              <a:lnSpc>
                <a:spcPts val="7000"/>
              </a:lnSpc>
              <a:spcBef>
                <a:spcPct val="0"/>
              </a:spcBef>
            </a:pPr>
            <a:endParaRPr lang="en-US" sz="4000" b="1" dirty="0">
              <a:solidFill>
                <a:srgbClr val="000000"/>
              </a:solidFill>
              <a:latin typeface="Times New Roman Bold"/>
              <a:ea typeface="Times New Roman Bold"/>
              <a:cs typeface="Times New Roman Bold"/>
              <a:sym typeface="Times New Roman Bold"/>
            </a:endParaRPr>
          </a:p>
        </p:txBody>
      </p:sp>
      <p:sp>
        <p:nvSpPr>
          <p:cNvPr id="5" name="TextBox 5"/>
          <p:cNvSpPr txBox="1"/>
          <p:nvPr/>
        </p:nvSpPr>
        <p:spPr>
          <a:xfrm>
            <a:off x="920914" y="3695700"/>
            <a:ext cx="16230600" cy="6299802"/>
          </a:xfrm>
          <a:prstGeom prst="rect">
            <a:avLst/>
          </a:prstGeom>
        </p:spPr>
        <p:txBody>
          <a:bodyPr lIns="0" tIns="0" rIns="0" bIns="0" rtlCol="0" anchor="t">
            <a:spAutoFit/>
          </a:bodyPr>
          <a:lstStyle/>
          <a:p>
            <a:pPr algn="just">
              <a:lnSpc>
                <a:spcPts val="4480"/>
              </a:lnSpc>
            </a:pPr>
            <a:r>
              <a:rPr lang="en-US" sz="3200" dirty="0">
                <a:solidFill>
                  <a:srgbClr val="000000"/>
                </a:solidFill>
                <a:latin typeface="Times New Roman"/>
                <a:ea typeface="Times New Roman"/>
                <a:cs typeface="Times New Roman"/>
                <a:sym typeface="Times New Roman"/>
              </a:rPr>
              <a:t>Design an intelligent intrusion detection system that can detect both known and unknown attacks, reduce false alerts, and provide clear explanations for its decisions to support faster and more reliable security responses.</a:t>
            </a:r>
          </a:p>
          <a:p>
            <a:pPr algn="just">
              <a:lnSpc>
                <a:spcPts val="4480"/>
              </a:lnSpc>
            </a:pPr>
            <a:r>
              <a:rPr lang="en-US" sz="3200" b="1" dirty="0">
                <a:solidFill>
                  <a:srgbClr val="000000"/>
                </a:solidFill>
                <a:latin typeface="Times New Roman Bold"/>
                <a:ea typeface="Times New Roman Bold"/>
                <a:cs typeface="Times New Roman Bold"/>
                <a:sym typeface="Times New Roman Bold"/>
              </a:rPr>
              <a:t>Objectives:</a:t>
            </a:r>
          </a:p>
          <a:p>
            <a:pPr marL="690881" lvl="1" indent="-345440" algn="just">
              <a:lnSpc>
                <a:spcPts val="4480"/>
              </a:lnSpc>
              <a:buAutoNum type="arabicPeriod"/>
            </a:pPr>
            <a:r>
              <a:rPr lang="en-US" sz="3200" dirty="0">
                <a:solidFill>
                  <a:srgbClr val="000000"/>
                </a:solidFill>
                <a:latin typeface="Times New Roman"/>
                <a:ea typeface="Times New Roman"/>
                <a:cs typeface="Times New Roman"/>
                <a:sym typeface="Times New Roman"/>
              </a:rPr>
              <a:t>To detect cyber attacks in network traffic using machine learning techniques</a:t>
            </a:r>
          </a:p>
          <a:p>
            <a:pPr algn="just">
              <a:lnSpc>
                <a:spcPts val="4480"/>
              </a:lnSpc>
            </a:pPr>
            <a:r>
              <a:rPr lang="en-US" sz="3200" dirty="0">
                <a:solidFill>
                  <a:srgbClr val="000000"/>
                </a:solidFill>
                <a:latin typeface="Times New Roman"/>
                <a:ea typeface="Times New Roman"/>
                <a:cs typeface="Times New Roman"/>
                <a:sym typeface="Times New Roman"/>
              </a:rPr>
              <a:t>       (known/zero-day)</a:t>
            </a:r>
          </a:p>
          <a:p>
            <a:pPr algn="just">
              <a:lnSpc>
                <a:spcPts val="4480"/>
              </a:lnSpc>
            </a:pPr>
            <a:r>
              <a:rPr lang="en-US" sz="3200" dirty="0">
                <a:solidFill>
                  <a:srgbClr val="000000"/>
                </a:solidFill>
                <a:latin typeface="Times New Roman"/>
                <a:ea typeface="Times New Roman"/>
                <a:cs typeface="Times New Roman"/>
                <a:sym typeface="Times New Roman"/>
              </a:rPr>
              <a:t>    2.To identify known attacks.</a:t>
            </a:r>
          </a:p>
          <a:p>
            <a:pPr algn="just">
              <a:lnSpc>
                <a:spcPts val="4480"/>
              </a:lnSpc>
            </a:pPr>
            <a:r>
              <a:rPr lang="en-US" sz="3200" dirty="0">
                <a:solidFill>
                  <a:srgbClr val="000000"/>
                </a:solidFill>
                <a:latin typeface="Times New Roman"/>
                <a:ea typeface="Times New Roman"/>
                <a:cs typeface="Times New Roman"/>
                <a:sym typeface="Times New Roman"/>
              </a:rPr>
              <a:t>    3.To reduce false positive alerts compared to traditional systems.</a:t>
            </a:r>
          </a:p>
          <a:p>
            <a:pPr algn="just">
              <a:lnSpc>
                <a:spcPts val="4480"/>
              </a:lnSpc>
            </a:pPr>
            <a:r>
              <a:rPr lang="en-US" sz="3200" dirty="0">
                <a:solidFill>
                  <a:srgbClr val="000000"/>
                </a:solidFill>
                <a:latin typeface="Times New Roman"/>
                <a:ea typeface="Times New Roman"/>
                <a:cs typeface="Times New Roman"/>
                <a:sym typeface="Times New Roman"/>
              </a:rPr>
              <a:t>    4.To provide explanations for attack detection using Explainable AI.</a:t>
            </a:r>
          </a:p>
          <a:p>
            <a:pPr algn="just">
              <a:lnSpc>
                <a:spcPts val="4480"/>
              </a:lnSpc>
            </a:pPr>
            <a:endParaRPr lang="en-US" sz="3200" dirty="0">
              <a:solidFill>
                <a:srgbClr val="000000"/>
              </a:solidFill>
              <a:latin typeface="Times New Roman"/>
              <a:ea typeface="Times New Roman"/>
              <a:cs typeface="Times New Roman"/>
              <a:sym typeface="Times New Roman"/>
            </a:endParaRPr>
          </a:p>
          <a:p>
            <a:pPr algn="just">
              <a:lnSpc>
                <a:spcPts val="4480"/>
              </a:lnSpc>
              <a:spcBef>
                <a:spcPct val="0"/>
              </a:spcBef>
            </a:pPr>
            <a:endParaRPr lang="en-US" sz="3200" dirty="0">
              <a:solidFill>
                <a:srgbClr val="000000"/>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402945" y="0"/>
            <a:ext cx="11482111" cy="2240747"/>
          </a:xfrm>
          <a:custGeom>
            <a:avLst/>
            <a:gdLst/>
            <a:ahLst/>
            <a:cxnLst/>
            <a:rect l="l" t="t" r="r" b="b"/>
            <a:pathLst>
              <a:path w="11482111" h="2240747">
                <a:moveTo>
                  <a:pt x="0" y="0"/>
                </a:moveTo>
                <a:lnTo>
                  <a:pt x="11482110" y="0"/>
                </a:lnTo>
                <a:lnTo>
                  <a:pt x="11482110" y="2240747"/>
                </a:lnTo>
                <a:lnTo>
                  <a:pt x="0" y="2240747"/>
                </a:lnTo>
                <a:lnTo>
                  <a:pt x="0" y="0"/>
                </a:lnTo>
                <a:close/>
              </a:path>
            </a:pathLst>
          </a:custGeom>
          <a:blipFill>
            <a:blip r:embed="rId2"/>
            <a:stretch>
              <a:fillRect b="-4990"/>
            </a:stretch>
          </a:blipFill>
          <a:ln cap="sq">
            <a:noFill/>
            <a:prstDash val="solid"/>
            <a:miter/>
          </a:ln>
        </p:spPr>
      </p:sp>
      <p:sp>
        <p:nvSpPr>
          <p:cNvPr id="3" name="TextBox 3"/>
          <p:cNvSpPr txBox="1"/>
          <p:nvPr/>
        </p:nvSpPr>
        <p:spPr>
          <a:xfrm>
            <a:off x="5151179" y="1823844"/>
            <a:ext cx="7985641" cy="375285"/>
          </a:xfrm>
          <a:prstGeom prst="rect">
            <a:avLst/>
          </a:prstGeom>
        </p:spPr>
        <p:txBody>
          <a:bodyPr lIns="0" tIns="0" rIns="0" bIns="0" rtlCol="0" anchor="t">
            <a:spAutoFit/>
          </a:bodyPr>
          <a:lstStyle/>
          <a:p>
            <a:pPr algn="ctr">
              <a:lnSpc>
                <a:spcPts val="2940"/>
              </a:lnSpc>
              <a:spcBef>
                <a:spcPct val="0"/>
              </a:spcBef>
            </a:pPr>
            <a:r>
              <a:rPr lang="en-US" sz="2100">
                <a:solidFill>
                  <a:srgbClr val="000000"/>
                </a:solidFill>
                <a:latin typeface="Times New Roman"/>
                <a:ea typeface="Times New Roman"/>
                <a:cs typeface="Times New Roman"/>
                <a:sym typeface="Times New Roman"/>
              </a:rPr>
              <a:t>DEPARTMENT OF ARITIFICAL INTELLIGENCE &amp; DATA SCIENCE</a:t>
            </a:r>
          </a:p>
        </p:txBody>
      </p:sp>
      <p:sp>
        <p:nvSpPr>
          <p:cNvPr id="4" name="TextBox 4"/>
          <p:cNvSpPr txBox="1"/>
          <p:nvPr/>
        </p:nvSpPr>
        <p:spPr>
          <a:xfrm>
            <a:off x="814907" y="2409719"/>
            <a:ext cx="9153271" cy="793487"/>
          </a:xfrm>
          <a:prstGeom prst="rect">
            <a:avLst/>
          </a:prstGeom>
        </p:spPr>
        <p:txBody>
          <a:bodyPr lIns="0" tIns="0" rIns="0" bIns="0" rtlCol="0" anchor="t">
            <a:spAutoFit/>
          </a:bodyPr>
          <a:lstStyle/>
          <a:p>
            <a:pPr algn="l">
              <a:lnSpc>
                <a:spcPts val="7000"/>
              </a:lnSpc>
              <a:spcBef>
                <a:spcPct val="0"/>
              </a:spcBef>
            </a:pPr>
            <a:r>
              <a:rPr lang="en-US" sz="4000" b="1" dirty="0">
                <a:solidFill>
                  <a:srgbClr val="000000"/>
                </a:solidFill>
                <a:latin typeface="Times New Roman Bold"/>
                <a:ea typeface="Times New Roman Bold"/>
                <a:cs typeface="Times New Roman Bold"/>
                <a:sym typeface="Times New Roman Bold"/>
              </a:rPr>
              <a:t> Proposed System:</a:t>
            </a:r>
          </a:p>
        </p:txBody>
      </p:sp>
      <p:sp>
        <p:nvSpPr>
          <p:cNvPr id="5" name="TextBox 5"/>
          <p:cNvSpPr txBox="1"/>
          <p:nvPr/>
        </p:nvSpPr>
        <p:spPr>
          <a:xfrm>
            <a:off x="814907" y="3372178"/>
            <a:ext cx="16230600" cy="6876883"/>
          </a:xfrm>
          <a:prstGeom prst="rect">
            <a:avLst/>
          </a:prstGeom>
        </p:spPr>
        <p:txBody>
          <a:bodyPr lIns="0" tIns="0" rIns="0" bIns="0" rtlCol="0" anchor="t">
            <a:spAutoFit/>
          </a:bodyPr>
          <a:lstStyle/>
          <a:p>
            <a:pPr algn="just">
              <a:lnSpc>
                <a:spcPts val="4480"/>
              </a:lnSpc>
            </a:pPr>
            <a:r>
              <a:rPr lang="en-US" sz="3200" dirty="0">
                <a:latin typeface="Times New Roman" panose="02020603050405020304" pitchFamily="18" charset="0"/>
                <a:cs typeface="Times New Roman" panose="02020603050405020304" pitchFamily="18" charset="0"/>
              </a:rPr>
              <a:t>The proposed system is a web-based Explainable AI-driven Intrusion Detection System designed to analyze network traffic and detect malicious activities using Machine Learning techniques. The system uses a Random Forest classifier to identify whether network traffic is normal or malicious,  Isolation Forest to detect Zero-day attacks and integrates Explainable Artificial Intelligence using SHAP (</a:t>
            </a:r>
            <a:r>
              <a:rPr lang="en-US" sz="3200" dirty="0" err="1">
                <a:latin typeface="Times New Roman" panose="02020603050405020304" pitchFamily="18" charset="0"/>
                <a:cs typeface="Times New Roman" panose="02020603050405020304" pitchFamily="18" charset="0"/>
              </a:rPr>
              <a:t>SHapley</a:t>
            </a:r>
            <a:r>
              <a:rPr lang="en-US" sz="3200" dirty="0">
                <a:latin typeface="Times New Roman" panose="02020603050405020304" pitchFamily="18" charset="0"/>
                <a:cs typeface="Times New Roman" panose="02020603050405020304" pitchFamily="18" charset="0"/>
              </a:rPr>
              <a:t> Additive Explanations) to explain the reason behind each detection decision.</a:t>
            </a:r>
          </a:p>
          <a:p>
            <a:pPr algn="just">
              <a:lnSpc>
                <a:spcPts val="4480"/>
              </a:lnSpc>
            </a:pPr>
            <a:r>
              <a:rPr lang="en-US" sz="3200" b="1"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Key Features of the Proposed System:</a:t>
            </a:r>
          </a:p>
          <a:p>
            <a:pPr marL="690881" lvl="1" indent="-345440" algn="just">
              <a:lnSpc>
                <a:spcPts val="4480"/>
              </a:lnSpc>
              <a:buFont typeface="Arial"/>
              <a:buChar char="•"/>
            </a:pPr>
            <a:r>
              <a:rPr lang="en-US" sz="3200" dirty="0">
                <a:solidFill>
                  <a:srgbClr val="000000"/>
                </a:solidFill>
                <a:latin typeface="Times New Roman" panose="02020603050405020304" pitchFamily="18" charset="0"/>
                <a:ea typeface="Times New Roman"/>
                <a:cs typeface="Times New Roman" panose="02020603050405020304" pitchFamily="18" charset="0"/>
                <a:sym typeface="Times New Roman"/>
              </a:rPr>
              <a:t>Detects cyber attacks in real time</a:t>
            </a:r>
          </a:p>
          <a:p>
            <a:pPr marL="690881" lvl="1" indent="-345440" algn="just">
              <a:lnSpc>
                <a:spcPts val="4480"/>
              </a:lnSpc>
              <a:buFont typeface="Arial"/>
              <a:buChar char="•"/>
            </a:pPr>
            <a:r>
              <a:rPr lang="en-US" sz="3200" dirty="0">
                <a:solidFill>
                  <a:srgbClr val="000000"/>
                </a:solidFill>
                <a:latin typeface="Times New Roman" panose="02020603050405020304" pitchFamily="18" charset="0"/>
                <a:ea typeface="Times New Roman"/>
                <a:cs typeface="Times New Roman" panose="02020603050405020304" pitchFamily="18" charset="0"/>
                <a:sym typeface="Times New Roman"/>
              </a:rPr>
              <a:t>Identifies known attacks using machine learning models</a:t>
            </a:r>
          </a:p>
          <a:p>
            <a:pPr marL="690881" lvl="1" indent="-345440" algn="just">
              <a:lnSpc>
                <a:spcPts val="4480"/>
              </a:lnSpc>
              <a:buFont typeface="Arial"/>
              <a:buChar char="•"/>
            </a:pPr>
            <a:r>
              <a:rPr lang="en-US" sz="3200" dirty="0">
                <a:solidFill>
                  <a:srgbClr val="000000"/>
                </a:solidFill>
                <a:latin typeface="Times New Roman" panose="02020603050405020304" pitchFamily="18" charset="0"/>
                <a:ea typeface="Times New Roman"/>
                <a:cs typeface="Times New Roman" panose="02020603050405020304" pitchFamily="18" charset="0"/>
                <a:sym typeface="Times New Roman"/>
              </a:rPr>
              <a:t>Reduces false alerts compared to traditional IDS</a:t>
            </a:r>
          </a:p>
          <a:p>
            <a:pPr marL="690881" lvl="1" indent="-345440" algn="just">
              <a:lnSpc>
                <a:spcPts val="4480"/>
              </a:lnSpc>
              <a:buFont typeface="Arial"/>
              <a:buChar char="•"/>
            </a:pPr>
            <a:r>
              <a:rPr lang="en-US" sz="3200" dirty="0">
                <a:solidFill>
                  <a:srgbClr val="000000"/>
                </a:solidFill>
                <a:latin typeface="Times New Roman" panose="02020603050405020304" pitchFamily="18" charset="0"/>
                <a:ea typeface="Times New Roman"/>
                <a:cs typeface="Times New Roman" panose="02020603050405020304" pitchFamily="18" charset="0"/>
                <a:sym typeface="Times New Roman"/>
              </a:rPr>
              <a:t>Explains detection results using Explainable AI</a:t>
            </a:r>
          </a:p>
          <a:p>
            <a:pPr marL="690881" lvl="1" indent="-345440" algn="just">
              <a:lnSpc>
                <a:spcPts val="4480"/>
              </a:lnSpc>
              <a:buFont typeface="Arial"/>
              <a:buChar char="•"/>
            </a:pPr>
            <a:r>
              <a:rPr lang="en-US" sz="3200" dirty="0">
                <a:solidFill>
                  <a:srgbClr val="000000"/>
                </a:solidFill>
                <a:latin typeface="Times New Roman" panose="02020603050405020304" pitchFamily="18" charset="0"/>
                <a:ea typeface="Times New Roman"/>
                <a:cs typeface="Times New Roman" panose="02020603050405020304" pitchFamily="18" charset="0"/>
                <a:sym typeface="Times New Roman"/>
              </a:rPr>
              <a:t>Displays Threat Score</a:t>
            </a:r>
          </a:p>
          <a:p>
            <a:pPr algn="just">
              <a:lnSpc>
                <a:spcPts val="4480"/>
              </a:lnSpc>
              <a:spcBef>
                <a:spcPct val="0"/>
              </a:spcBef>
            </a:pPr>
            <a:endParaRPr lang="en-US" sz="32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250544" y="30306"/>
            <a:ext cx="11482111" cy="2240747"/>
          </a:xfrm>
          <a:custGeom>
            <a:avLst/>
            <a:gdLst/>
            <a:ahLst/>
            <a:cxnLst/>
            <a:rect l="l" t="t" r="r" b="b"/>
            <a:pathLst>
              <a:path w="11482111" h="2240747">
                <a:moveTo>
                  <a:pt x="0" y="0"/>
                </a:moveTo>
                <a:lnTo>
                  <a:pt x="11482110" y="0"/>
                </a:lnTo>
                <a:lnTo>
                  <a:pt x="11482110" y="2240747"/>
                </a:lnTo>
                <a:lnTo>
                  <a:pt x="0" y="2240747"/>
                </a:lnTo>
                <a:lnTo>
                  <a:pt x="0" y="0"/>
                </a:lnTo>
                <a:close/>
              </a:path>
            </a:pathLst>
          </a:custGeom>
          <a:blipFill>
            <a:blip r:embed="rId2"/>
            <a:stretch>
              <a:fillRect t="-4990"/>
            </a:stretch>
          </a:blipFill>
          <a:ln cap="sq">
            <a:noFill/>
            <a:prstDash val="solid"/>
            <a:miter/>
          </a:ln>
        </p:spPr>
      </p:sp>
      <p:sp>
        <p:nvSpPr>
          <p:cNvPr id="4" name="TextBox 4"/>
          <p:cNvSpPr txBox="1"/>
          <p:nvPr/>
        </p:nvSpPr>
        <p:spPr>
          <a:xfrm>
            <a:off x="5151179" y="1823844"/>
            <a:ext cx="7985641" cy="375285"/>
          </a:xfrm>
          <a:prstGeom prst="rect">
            <a:avLst/>
          </a:prstGeom>
        </p:spPr>
        <p:txBody>
          <a:bodyPr lIns="0" tIns="0" rIns="0" bIns="0" rtlCol="0" anchor="t">
            <a:spAutoFit/>
          </a:bodyPr>
          <a:lstStyle/>
          <a:p>
            <a:pPr algn="ctr">
              <a:lnSpc>
                <a:spcPts val="2940"/>
              </a:lnSpc>
              <a:spcBef>
                <a:spcPct val="0"/>
              </a:spcBef>
            </a:pPr>
            <a:r>
              <a:rPr lang="en-US" sz="2100">
                <a:solidFill>
                  <a:srgbClr val="000000"/>
                </a:solidFill>
                <a:latin typeface="Times New Roman"/>
                <a:ea typeface="Times New Roman"/>
                <a:cs typeface="Times New Roman"/>
                <a:sym typeface="Times New Roman"/>
              </a:rPr>
              <a:t>DEPARTMENT OF ARITIFICAL INTELLIGENCE &amp; DATA SCIENCE</a:t>
            </a:r>
          </a:p>
        </p:txBody>
      </p:sp>
      <p:sp>
        <p:nvSpPr>
          <p:cNvPr id="5" name="TextBox 5"/>
          <p:cNvSpPr txBox="1"/>
          <p:nvPr/>
        </p:nvSpPr>
        <p:spPr>
          <a:xfrm>
            <a:off x="1219200" y="1947551"/>
            <a:ext cx="9153271" cy="793487"/>
          </a:xfrm>
          <a:prstGeom prst="rect">
            <a:avLst/>
          </a:prstGeom>
        </p:spPr>
        <p:txBody>
          <a:bodyPr lIns="0" tIns="0" rIns="0" bIns="0" rtlCol="0" anchor="t">
            <a:spAutoFit/>
          </a:bodyPr>
          <a:lstStyle/>
          <a:p>
            <a:pPr algn="l">
              <a:lnSpc>
                <a:spcPts val="7000"/>
              </a:lnSpc>
              <a:spcBef>
                <a:spcPct val="0"/>
              </a:spcBef>
            </a:pPr>
            <a:r>
              <a:rPr lang="en-US" sz="4000" b="1" dirty="0">
                <a:solidFill>
                  <a:srgbClr val="000000"/>
                </a:solidFill>
                <a:latin typeface="Times New Roman Bold"/>
                <a:ea typeface="Times New Roman Bold"/>
                <a:cs typeface="Times New Roman Bold"/>
                <a:sym typeface="Times New Roman Bold"/>
              </a:rPr>
              <a:t> System Architecture:</a:t>
            </a:r>
          </a:p>
        </p:txBody>
      </p:sp>
      <p:sp>
        <p:nvSpPr>
          <p:cNvPr id="7" name="AutoShape 2">
            <a:extLst>
              <a:ext uri="{FF2B5EF4-FFF2-40B4-BE49-F238E27FC236}">
                <a16:creationId xmlns:a16="http://schemas.microsoft.com/office/drawing/2014/main" id="{34045FAB-7C6E-8344-8640-D6F7AA439171}"/>
              </a:ext>
            </a:extLst>
          </p:cNvPr>
          <p:cNvSpPr>
            <a:spLocks noChangeAspect="1" noChangeArrowheads="1"/>
          </p:cNvSpPr>
          <p:nvPr/>
        </p:nvSpPr>
        <p:spPr bwMode="auto">
          <a:xfrm>
            <a:off x="8991600" y="4991100"/>
            <a:ext cx="4145220" cy="414522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9" name="Picture 8">
            <a:extLst>
              <a:ext uri="{FF2B5EF4-FFF2-40B4-BE49-F238E27FC236}">
                <a16:creationId xmlns:a16="http://schemas.microsoft.com/office/drawing/2014/main" id="{74B397AA-6C31-FAF4-B27F-DEF160BF04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8399" y="2875057"/>
            <a:ext cx="13411200" cy="73152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402945" y="0"/>
            <a:ext cx="11482111" cy="2240747"/>
          </a:xfrm>
          <a:custGeom>
            <a:avLst/>
            <a:gdLst/>
            <a:ahLst/>
            <a:cxnLst/>
            <a:rect l="l" t="t" r="r" b="b"/>
            <a:pathLst>
              <a:path w="11482111" h="2240747">
                <a:moveTo>
                  <a:pt x="0" y="0"/>
                </a:moveTo>
                <a:lnTo>
                  <a:pt x="11482110" y="0"/>
                </a:lnTo>
                <a:lnTo>
                  <a:pt x="11482110" y="2240747"/>
                </a:lnTo>
                <a:lnTo>
                  <a:pt x="0" y="2240747"/>
                </a:lnTo>
                <a:lnTo>
                  <a:pt x="0" y="0"/>
                </a:lnTo>
                <a:close/>
              </a:path>
            </a:pathLst>
          </a:custGeom>
          <a:blipFill>
            <a:blip r:embed="rId2"/>
            <a:stretch>
              <a:fillRect b="-4990"/>
            </a:stretch>
          </a:blipFill>
          <a:ln cap="sq">
            <a:noFill/>
            <a:prstDash val="solid"/>
            <a:miter/>
          </a:ln>
        </p:spPr>
      </p:sp>
      <p:sp>
        <p:nvSpPr>
          <p:cNvPr id="3" name="TextBox 3"/>
          <p:cNvSpPr txBox="1"/>
          <p:nvPr/>
        </p:nvSpPr>
        <p:spPr>
          <a:xfrm>
            <a:off x="5151179" y="1823844"/>
            <a:ext cx="7985641" cy="375285"/>
          </a:xfrm>
          <a:prstGeom prst="rect">
            <a:avLst/>
          </a:prstGeom>
        </p:spPr>
        <p:txBody>
          <a:bodyPr lIns="0" tIns="0" rIns="0" bIns="0" rtlCol="0" anchor="t">
            <a:spAutoFit/>
          </a:bodyPr>
          <a:lstStyle/>
          <a:p>
            <a:pPr algn="ctr">
              <a:lnSpc>
                <a:spcPts val="2940"/>
              </a:lnSpc>
              <a:spcBef>
                <a:spcPct val="0"/>
              </a:spcBef>
            </a:pPr>
            <a:r>
              <a:rPr lang="en-US" sz="2100" dirty="0">
                <a:solidFill>
                  <a:srgbClr val="000000"/>
                </a:solidFill>
                <a:latin typeface="Times New Roman"/>
                <a:ea typeface="Times New Roman"/>
                <a:cs typeface="Times New Roman"/>
                <a:sym typeface="Times New Roman"/>
              </a:rPr>
              <a:t>DEPARTMENT OF ARITIFICAL INTELLIGENCE &amp; DATA SCIENCE</a:t>
            </a:r>
          </a:p>
        </p:txBody>
      </p:sp>
      <p:sp>
        <p:nvSpPr>
          <p:cNvPr id="4" name="TextBox 4"/>
          <p:cNvSpPr txBox="1"/>
          <p:nvPr/>
        </p:nvSpPr>
        <p:spPr>
          <a:xfrm>
            <a:off x="914400" y="2199129"/>
            <a:ext cx="9153271" cy="823559"/>
          </a:xfrm>
          <a:prstGeom prst="rect">
            <a:avLst/>
          </a:prstGeom>
        </p:spPr>
        <p:txBody>
          <a:bodyPr lIns="0" tIns="0" rIns="0" bIns="0" rtlCol="0" anchor="t">
            <a:spAutoFit/>
          </a:bodyPr>
          <a:lstStyle/>
          <a:p>
            <a:pPr algn="l">
              <a:lnSpc>
                <a:spcPts val="7000"/>
              </a:lnSpc>
              <a:spcBef>
                <a:spcPct val="0"/>
              </a:spcBef>
            </a:pPr>
            <a:r>
              <a:rPr lang="en-US" sz="4000" b="1" dirty="0">
                <a:solidFill>
                  <a:srgbClr val="000000"/>
                </a:solidFill>
                <a:latin typeface="Times New Roman Bold"/>
                <a:ea typeface="Times New Roman Bold"/>
                <a:cs typeface="Times New Roman Bold"/>
                <a:sym typeface="Times New Roman Bold"/>
              </a:rPr>
              <a:t>Implementation details:</a:t>
            </a:r>
          </a:p>
        </p:txBody>
      </p:sp>
      <p:sp>
        <p:nvSpPr>
          <p:cNvPr id="5" name="TextBox 4">
            <a:extLst>
              <a:ext uri="{FF2B5EF4-FFF2-40B4-BE49-F238E27FC236}">
                <a16:creationId xmlns:a16="http://schemas.microsoft.com/office/drawing/2014/main" id="{B1C4518A-9D36-4CC2-95F6-40D674178EDB}"/>
              </a:ext>
            </a:extLst>
          </p:cNvPr>
          <p:cNvSpPr txBox="1"/>
          <p:nvPr/>
        </p:nvSpPr>
        <p:spPr>
          <a:xfrm>
            <a:off x="2316420" y="3022688"/>
            <a:ext cx="10820400" cy="7171194"/>
          </a:xfrm>
          <a:prstGeom prst="rect">
            <a:avLst/>
          </a:prstGeom>
          <a:noFill/>
        </p:spPr>
        <p:txBody>
          <a:bodyPr wrap="square" rtlCol="0">
            <a:spAutoFit/>
          </a:bodyPr>
          <a:lstStyle/>
          <a:p>
            <a:r>
              <a:rPr lang="en-IN" sz="2300" b="1" dirty="0"/>
              <a:t>1. Data Collection</a:t>
            </a:r>
            <a:endParaRPr lang="en-IN" sz="2300" dirty="0"/>
          </a:p>
          <a:p>
            <a:r>
              <a:rPr lang="en-IN" sz="2300" dirty="0"/>
              <a:t>	Network traffic collected from benchmark datasets (NSL-KDD, CICIDS) </a:t>
            </a:r>
          </a:p>
          <a:p>
            <a:r>
              <a:rPr lang="en-IN" sz="2300" dirty="0"/>
              <a:t>	Simulated real-time traffic using virtual machines and attack scripts </a:t>
            </a:r>
          </a:p>
          <a:p>
            <a:r>
              <a:rPr lang="en-IN" sz="2300" dirty="0"/>
              <a:t>	Includes normal and malicious traffic (DoS, brute force, port scan) </a:t>
            </a:r>
          </a:p>
          <a:p>
            <a:endParaRPr lang="en-IN" sz="2300" dirty="0"/>
          </a:p>
          <a:p>
            <a:r>
              <a:rPr lang="en-IN" sz="2300" b="1" dirty="0"/>
              <a:t>2. Preprocessing &amp; Feature Extraction</a:t>
            </a:r>
            <a:endParaRPr lang="en-IN" sz="2300" dirty="0"/>
          </a:p>
          <a:p>
            <a:r>
              <a:rPr lang="en-IN" sz="2300" dirty="0"/>
              <a:t>	Data cleaning, encoding, and normalization using </a:t>
            </a:r>
            <a:r>
              <a:rPr lang="en-IN" sz="2300" b="1" dirty="0"/>
              <a:t>Pandas &amp; NumPy</a:t>
            </a:r>
            <a:r>
              <a:rPr lang="en-IN" sz="2300" dirty="0"/>
              <a:t> </a:t>
            </a:r>
          </a:p>
          <a:p>
            <a:r>
              <a:rPr lang="en-IN" sz="2300" dirty="0"/>
              <a:t>	Handling imbalance using </a:t>
            </a:r>
            <a:r>
              <a:rPr lang="en-IN" sz="2300" b="1" dirty="0"/>
              <a:t>SMOTE (imbalanced-learn)</a:t>
            </a:r>
            <a:r>
              <a:rPr lang="en-IN" sz="2300" dirty="0"/>
              <a:t> </a:t>
            </a:r>
          </a:p>
          <a:p>
            <a:r>
              <a:rPr lang="en-IN" sz="2300" dirty="0"/>
              <a:t>	Feature engineering to improve detection accuracy </a:t>
            </a:r>
          </a:p>
          <a:p>
            <a:endParaRPr lang="en-IN" sz="2300" dirty="0"/>
          </a:p>
          <a:p>
            <a:r>
              <a:rPr lang="en-IN" sz="2300" b="1" dirty="0"/>
              <a:t>3. Detection Models</a:t>
            </a:r>
            <a:endParaRPr lang="en-IN" sz="2300" dirty="0"/>
          </a:p>
          <a:p>
            <a:r>
              <a:rPr lang="en-IN" sz="2300" b="1" dirty="0"/>
              <a:t>	Random Forest (Scikit-learn):</a:t>
            </a:r>
            <a:r>
              <a:rPr lang="en-IN" sz="2300" dirty="0"/>
              <a:t> classifies specific attack types (multi-class) </a:t>
            </a:r>
          </a:p>
          <a:p>
            <a:r>
              <a:rPr lang="en-IN" sz="2300" b="1" dirty="0"/>
              <a:t>	Isolation Forest (Scikit-learn):</a:t>
            </a:r>
            <a:r>
              <a:rPr lang="en-IN" sz="2300" dirty="0"/>
              <a:t> detects anomalies and unknown attacks </a:t>
            </a:r>
          </a:p>
          <a:p>
            <a:r>
              <a:rPr lang="en-IN" sz="2300" dirty="0"/>
              <a:t>	Hybrid approach improves both accuracy and generalization </a:t>
            </a:r>
          </a:p>
          <a:p>
            <a:endParaRPr lang="en-IN" sz="2300" dirty="0"/>
          </a:p>
          <a:p>
            <a:r>
              <a:rPr lang="en-IN" sz="2300" b="1" dirty="0"/>
              <a:t>4. Explainability (XAI)</a:t>
            </a:r>
            <a:endParaRPr lang="en-IN" sz="2300" dirty="0"/>
          </a:p>
          <a:p>
            <a:r>
              <a:rPr lang="en-IN" sz="2300" b="1" dirty="0"/>
              <a:t>	SHAP (</a:t>
            </a:r>
            <a:r>
              <a:rPr lang="en-IN" sz="2300" b="1" dirty="0" err="1"/>
              <a:t>SHapley</a:t>
            </a:r>
            <a:r>
              <a:rPr lang="en-IN" sz="2300" b="1" dirty="0"/>
              <a:t> Additive Explanations)</a:t>
            </a:r>
            <a:r>
              <a:rPr lang="en-IN" sz="2300" dirty="0"/>
              <a:t> used for model interpretability </a:t>
            </a:r>
          </a:p>
          <a:p>
            <a:r>
              <a:rPr lang="en-IN" sz="2300" dirty="0"/>
              <a:t>	Identifies most important features influencing each prediction </a:t>
            </a:r>
          </a:p>
          <a:p>
            <a:r>
              <a:rPr lang="en-IN" sz="2300" dirty="0"/>
              <a:t>	Provides transparency for security decisions</a:t>
            </a:r>
          </a:p>
          <a:p>
            <a:endParaRPr lang="en-IN" sz="2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a:extLst>
              <a:ext uri="{FF2B5EF4-FFF2-40B4-BE49-F238E27FC236}">
                <a16:creationId xmlns:a16="http://schemas.microsoft.com/office/drawing/2014/main" id="{DD9F0CF1-FD66-B570-7A53-C272BA890A29}"/>
              </a:ext>
            </a:extLst>
          </p:cNvPr>
          <p:cNvSpPr txBox="1"/>
          <p:nvPr/>
        </p:nvSpPr>
        <p:spPr>
          <a:xfrm>
            <a:off x="914400" y="2199129"/>
            <a:ext cx="9153271" cy="823559"/>
          </a:xfrm>
          <a:prstGeom prst="rect">
            <a:avLst/>
          </a:prstGeom>
        </p:spPr>
        <p:txBody>
          <a:bodyPr lIns="0" tIns="0" rIns="0" bIns="0" rtlCol="0" anchor="t">
            <a:spAutoFit/>
          </a:bodyPr>
          <a:lstStyle/>
          <a:p>
            <a:pPr algn="l">
              <a:lnSpc>
                <a:spcPts val="7000"/>
              </a:lnSpc>
              <a:spcBef>
                <a:spcPct val="0"/>
              </a:spcBef>
            </a:pPr>
            <a:r>
              <a:rPr lang="en-US" sz="4000" b="1" dirty="0">
                <a:solidFill>
                  <a:srgbClr val="000000"/>
                </a:solidFill>
                <a:latin typeface="Times New Roman Bold"/>
                <a:ea typeface="Times New Roman Bold"/>
                <a:cs typeface="Times New Roman Bold"/>
                <a:sym typeface="Times New Roman Bold"/>
              </a:rPr>
              <a:t>Implementation details:</a:t>
            </a:r>
          </a:p>
        </p:txBody>
      </p:sp>
      <p:sp>
        <p:nvSpPr>
          <p:cNvPr id="4" name="Freeform 2">
            <a:extLst>
              <a:ext uri="{FF2B5EF4-FFF2-40B4-BE49-F238E27FC236}">
                <a16:creationId xmlns:a16="http://schemas.microsoft.com/office/drawing/2014/main" id="{9592CD3A-0617-8A86-DA41-32E618A39EC9}"/>
              </a:ext>
            </a:extLst>
          </p:cNvPr>
          <p:cNvSpPr/>
          <p:nvPr/>
        </p:nvSpPr>
        <p:spPr>
          <a:xfrm>
            <a:off x="3402943" y="0"/>
            <a:ext cx="11482111" cy="2240747"/>
          </a:xfrm>
          <a:custGeom>
            <a:avLst/>
            <a:gdLst/>
            <a:ahLst/>
            <a:cxnLst/>
            <a:rect l="l" t="t" r="r" b="b"/>
            <a:pathLst>
              <a:path w="11482111" h="2240747">
                <a:moveTo>
                  <a:pt x="0" y="0"/>
                </a:moveTo>
                <a:lnTo>
                  <a:pt x="11482110" y="0"/>
                </a:lnTo>
                <a:lnTo>
                  <a:pt x="11482110" y="2240747"/>
                </a:lnTo>
                <a:lnTo>
                  <a:pt x="0" y="2240747"/>
                </a:lnTo>
                <a:lnTo>
                  <a:pt x="0" y="0"/>
                </a:lnTo>
                <a:close/>
              </a:path>
            </a:pathLst>
          </a:custGeom>
          <a:blipFill>
            <a:blip r:embed="rId2"/>
            <a:stretch>
              <a:fillRect t="-4990"/>
            </a:stretch>
          </a:blipFill>
          <a:ln cap="sq">
            <a:noFill/>
            <a:prstDash val="solid"/>
            <a:miter/>
          </a:ln>
        </p:spPr>
      </p:sp>
      <p:sp>
        <p:nvSpPr>
          <p:cNvPr id="5" name="TextBox 3">
            <a:extLst>
              <a:ext uri="{FF2B5EF4-FFF2-40B4-BE49-F238E27FC236}">
                <a16:creationId xmlns:a16="http://schemas.microsoft.com/office/drawing/2014/main" id="{3E115EFB-B53C-1C92-7FCA-F5E98A4545E6}"/>
              </a:ext>
            </a:extLst>
          </p:cNvPr>
          <p:cNvSpPr txBox="1"/>
          <p:nvPr/>
        </p:nvSpPr>
        <p:spPr>
          <a:xfrm>
            <a:off x="5029200" y="1714500"/>
            <a:ext cx="7985641" cy="375285"/>
          </a:xfrm>
          <a:prstGeom prst="rect">
            <a:avLst/>
          </a:prstGeom>
        </p:spPr>
        <p:txBody>
          <a:bodyPr lIns="0" tIns="0" rIns="0" bIns="0" rtlCol="0" anchor="t">
            <a:spAutoFit/>
          </a:bodyPr>
          <a:lstStyle/>
          <a:p>
            <a:pPr algn="ctr">
              <a:lnSpc>
                <a:spcPts val="2940"/>
              </a:lnSpc>
              <a:spcBef>
                <a:spcPct val="0"/>
              </a:spcBef>
            </a:pPr>
            <a:r>
              <a:rPr lang="en-US" sz="2100" dirty="0">
                <a:solidFill>
                  <a:srgbClr val="000000"/>
                </a:solidFill>
                <a:latin typeface="Times New Roman"/>
                <a:ea typeface="Times New Roman"/>
                <a:cs typeface="Times New Roman"/>
                <a:sym typeface="Times New Roman"/>
              </a:rPr>
              <a:t>DEPARTMENT OF ARITIFICAL INTELLIGENCE &amp; DATA SCIENCE</a:t>
            </a:r>
          </a:p>
        </p:txBody>
      </p:sp>
      <p:sp>
        <p:nvSpPr>
          <p:cNvPr id="6" name="TextBox 5">
            <a:extLst>
              <a:ext uri="{FF2B5EF4-FFF2-40B4-BE49-F238E27FC236}">
                <a16:creationId xmlns:a16="http://schemas.microsoft.com/office/drawing/2014/main" id="{3781E792-6EF4-5E9E-63E9-29BD07E40421}"/>
              </a:ext>
            </a:extLst>
          </p:cNvPr>
          <p:cNvSpPr txBox="1"/>
          <p:nvPr/>
        </p:nvSpPr>
        <p:spPr>
          <a:xfrm>
            <a:off x="2209800" y="3022688"/>
            <a:ext cx="14159645" cy="7525137"/>
          </a:xfrm>
          <a:prstGeom prst="rect">
            <a:avLst/>
          </a:prstGeom>
          <a:noFill/>
        </p:spPr>
        <p:txBody>
          <a:bodyPr wrap="none" rtlCol="0">
            <a:spAutoFit/>
          </a:bodyPr>
          <a:lstStyle/>
          <a:p>
            <a:r>
              <a:rPr lang="en-IN" sz="2300" b="1" dirty="0"/>
              <a:t>5. Real-Time Simulation &amp; Monitoring</a:t>
            </a:r>
            <a:endParaRPr lang="en-IN" sz="2300" dirty="0"/>
          </a:p>
          <a:p>
            <a:r>
              <a:rPr lang="en-IN" sz="2300" dirty="0"/>
              <a:t>	Simulated attacks using scripts (port scan, DoS, brute force) </a:t>
            </a:r>
          </a:p>
          <a:p>
            <a:r>
              <a:rPr lang="en-IN" sz="2300" dirty="0"/>
              <a:t>	Real-time detection pipeline processes incoming traffic </a:t>
            </a:r>
          </a:p>
          <a:p>
            <a:r>
              <a:rPr lang="en-IN" sz="2300" dirty="0"/>
              <a:t>	Generates attack type, anomaly score, and risk level </a:t>
            </a:r>
          </a:p>
          <a:p>
            <a:endParaRPr lang="en-IN" sz="2300" dirty="0"/>
          </a:p>
          <a:p>
            <a:r>
              <a:rPr lang="en-IN" sz="2300" b="1" dirty="0"/>
              <a:t>6. Backend &amp; API</a:t>
            </a:r>
            <a:endParaRPr lang="en-IN" sz="2300" dirty="0"/>
          </a:p>
          <a:p>
            <a:r>
              <a:rPr lang="en-IN" sz="2300" b="1" dirty="0"/>
              <a:t>	</a:t>
            </a:r>
            <a:r>
              <a:rPr lang="en-IN" sz="2300" b="1" dirty="0" err="1"/>
              <a:t>FastAPI</a:t>
            </a:r>
            <a:r>
              <a:rPr lang="en-IN" sz="2300" dirty="0"/>
              <a:t> used to handle prediction requests </a:t>
            </a:r>
          </a:p>
          <a:p>
            <a:r>
              <a:rPr lang="en-IN" sz="2300" dirty="0"/>
              <a:t>	Integrates models, preprocessing, and explainability </a:t>
            </a:r>
          </a:p>
          <a:p>
            <a:r>
              <a:rPr lang="en-IN" sz="2300" dirty="0"/>
              <a:t>	Returns results in real-time to frontend </a:t>
            </a:r>
          </a:p>
          <a:p>
            <a:endParaRPr lang="en-IN" sz="2300" dirty="0"/>
          </a:p>
          <a:p>
            <a:r>
              <a:rPr lang="en-IN" sz="2300" b="1" dirty="0"/>
              <a:t>7 Frontend Dashboard</a:t>
            </a:r>
            <a:endParaRPr lang="en-IN" sz="2300" dirty="0"/>
          </a:p>
          <a:p>
            <a:r>
              <a:rPr lang="en-IN" sz="2300" dirty="0"/>
              <a:t>	Built using </a:t>
            </a:r>
            <a:r>
              <a:rPr lang="en-IN" sz="2300" b="1" dirty="0"/>
              <a:t>HTML, CSS, JavaScript</a:t>
            </a:r>
            <a:r>
              <a:rPr lang="en-IN" sz="2300" dirty="0"/>
              <a:t> </a:t>
            </a:r>
          </a:p>
          <a:p>
            <a:r>
              <a:rPr lang="en-IN" sz="2300" dirty="0"/>
              <a:t>	Displays: </a:t>
            </a:r>
          </a:p>
          <a:p>
            <a:pPr lvl="1"/>
            <a:r>
              <a:rPr lang="en-IN" sz="2300" dirty="0"/>
              <a:t>		Attack type </a:t>
            </a:r>
          </a:p>
          <a:p>
            <a:pPr lvl="1"/>
            <a:r>
              <a:rPr lang="en-IN" sz="2300" dirty="0"/>
              <a:t>		Risk score </a:t>
            </a:r>
          </a:p>
          <a:p>
            <a:pPr lvl="1"/>
            <a:r>
              <a:rPr lang="en-IN" sz="2300" dirty="0"/>
              <a:t>		SHAP-based explanations </a:t>
            </a:r>
          </a:p>
          <a:p>
            <a:r>
              <a:rPr lang="en-IN" sz="2300" dirty="0"/>
              <a:t>	Interactive and user-friendly interface </a:t>
            </a:r>
          </a:p>
          <a:p>
            <a:endParaRPr lang="en-IN" sz="2300" dirty="0"/>
          </a:p>
          <a:p>
            <a:r>
              <a:rPr lang="en-IN" sz="2300" b="1" dirty="0"/>
              <a:t>Flow Summary</a:t>
            </a:r>
          </a:p>
          <a:p>
            <a:r>
              <a:rPr lang="en-IN" sz="2300" b="1" dirty="0"/>
              <a:t>Data → Preprocessing → Feature Engineering → RF + IF Detection → SHAP Explanation → Dashboard Visualization</a:t>
            </a:r>
            <a:endParaRPr lang="en-IN" sz="2300" dirty="0"/>
          </a:p>
          <a:p>
            <a:endParaRPr lang="en-IN" sz="2300" dirty="0"/>
          </a:p>
        </p:txBody>
      </p:sp>
    </p:spTree>
    <p:extLst>
      <p:ext uri="{BB962C8B-B14F-4D97-AF65-F5344CB8AC3E}">
        <p14:creationId xmlns:p14="http://schemas.microsoft.com/office/powerpoint/2010/main" val="17789373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402945" y="0"/>
            <a:ext cx="11482111" cy="2240747"/>
          </a:xfrm>
          <a:custGeom>
            <a:avLst/>
            <a:gdLst/>
            <a:ahLst/>
            <a:cxnLst/>
            <a:rect l="l" t="t" r="r" b="b"/>
            <a:pathLst>
              <a:path w="11482111" h="2240747">
                <a:moveTo>
                  <a:pt x="0" y="0"/>
                </a:moveTo>
                <a:lnTo>
                  <a:pt x="11482110" y="0"/>
                </a:lnTo>
                <a:lnTo>
                  <a:pt x="11482110" y="2240747"/>
                </a:lnTo>
                <a:lnTo>
                  <a:pt x="0" y="2240747"/>
                </a:lnTo>
                <a:lnTo>
                  <a:pt x="0" y="0"/>
                </a:lnTo>
                <a:close/>
              </a:path>
            </a:pathLst>
          </a:custGeom>
          <a:blipFill>
            <a:blip r:embed="rId2"/>
            <a:stretch>
              <a:fillRect b="-4990"/>
            </a:stretch>
          </a:blipFill>
          <a:ln cap="sq">
            <a:noFill/>
            <a:prstDash val="solid"/>
            <a:miter/>
          </a:ln>
        </p:spPr>
      </p:sp>
      <p:sp>
        <p:nvSpPr>
          <p:cNvPr id="3" name="TextBox 3"/>
          <p:cNvSpPr txBox="1"/>
          <p:nvPr/>
        </p:nvSpPr>
        <p:spPr>
          <a:xfrm>
            <a:off x="5151179" y="1823844"/>
            <a:ext cx="7985641" cy="375285"/>
          </a:xfrm>
          <a:prstGeom prst="rect">
            <a:avLst/>
          </a:prstGeom>
        </p:spPr>
        <p:txBody>
          <a:bodyPr lIns="0" tIns="0" rIns="0" bIns="0" rtlCol="0" anchor="t">
            <a:spAutoFit/>
          </a:bodyPr>
          <a:lstStyle/>
          <a:p>
            <a:pPr algn="ctr">
              <a:lnSpc>
                <a:spcPts val="2940"/>
              </a:lnSpc>
              <a:spcBef>
                <a:spcPct val="0"/>
              </a:spcBef>
            </a:pPr>
            <a:r>
              <a:rPr lang="en-US" sz="2100">
                <a:solidFill>
                  <a:srgbClr val="000000"/>
                </a:solidFill>
                <a:latin typeface="Times New Roman"/>
                <a:ea typeface="Times New Roman"/>
                <a:cs typeface="Times New Roman"/>
                <a:sym typeface="Times New Roman"/>
              </a:rPr>
              <a:t>DEPARTMENT OF ARITIFICAL INTELLIGENCE &amp; DATA SCIENCE</a:t>
            </a:r>
          </a:p>
        </p:txBody>
      </p:sp>
      <p:sp>
        <p:nvSpPr>
          <p:cNvPr id="4" name="TextBox 4"/>
          <p:cNvSpPr txBox="1"/>
          <p:nvPr/>
        </p:nvSpPr>
        <p:spPr>
          <a:xfrm>
            <a:off x="1447800" y="2772517"/>
            <a:ext cx="9153271" cy="793487"/>
          </a:xfrm>
          <a:prstGeom prst="rect">
            <a:avLst/>
          </a:prstGeom>
        </p:spPr>
        <p:txBody>
          <a:bodyPr lIns="0" tIns="0" rIns="0" bIns="0" rtlCol="0" anchor="t">
            <a:spAutoFit/>
          </a:bodyPr>
          <a:lstStyle/>
          <a:p>
            <a:pPr algn="l">
              <a:lnSpc>
                <a:spcPts val="7000"/>
              </a:lnSpc>
              <a:spcBef>
                <a:spcPct val="0"/>
              </a:spcBef>
            </a:pPr>
            <a:r>
              <a:rPr lang="en-US" sz="4000" b="1" dirty="0">
                <a:solidFill>
                  <a:srgbClr val="000000"/>
                </a:solidFill>
                <a:latin typeface="Times New Roman Bold"/>
                <a:ea typeface="Times New Roman Bold"/>
                <a:cs typeface="Times New Roman Bold"/>
                <a:sym typeface="Times New Roman Bold"/>
              </a:rPr>
              <a:t>References:</a:t>
            </a:r>
          </a:p>
        </p:txBody>
      </p:sp>
      <p:sp>
        <p:nvSpPr>
          <p:cNvPr id="7" name="Rectangle 2">
            <a:extLst>
              <a:ext uri="{FF2B5EF4-FFF2-40B4-BE49-F238E27FC236}">
                <a16:creationId xmlns:a16="http://schemas.microsoft.com/office/drawing/2014/main" id="{09D21349-F5C4-C94F-9689-478005A027A6}"/>
              </a:ext>
            </a:extLst>
          </p:cNvPr>
          <p:cNvSpPr>
            <a:spLocks noChangeArrowheads="1"/>
          </p:cNvSpPr>
          <p:nvPr/>
        </p:nvSpPr>
        <p:spPr bwMode="auto">
          <a:xfrm>
            <a:off x="2649178" y="4097775"/>
            <a:ext cx="12989642"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2800" b="1" dirty="0"/>
              <a:t>[1]</a:t>
            </a:r>
            <a:r>
              <a:rPr lang="en-IN" sz="2800" dirty="0"/>
              <a:t> M. L. Ali, K. Thakur, S. Schmeelk, J. </a:t>
            </a:r>
            <a:r>
              <a:rPr lang="en-IN" sz="2800" dirty="0" err="1"/>
              <a:t>Debello</a:t>
            </a:r>
            <a:r>
              <a:rPr lang="en-IN" sz="2800" dirty="0"/>
              <a:t>, and D. Dragos, “Deep learning vs. machine learning for intrusion detection in computer networks: A comparative study,” </a:t>
            </a:r>
            <a:r>
              <a:rPr lang="en-IN" sz="2800" i="1" dirty="0"/>
              <a:t>Applied Sciences</a:t>
            </a:r>
            <a:r>
              <a:rPr lang="en-IN" sz="2800" dirty="0"/>
              <a:t>, vol. 15, no. 4, Art. no. 1903, pp. 1–19, Feb. 2025. </a:t>
            </a:r>
          </a:p>
          <a:p>
            <a:endParaRPr lang="en-IN" sz="2800" dirty="0"/>
          </a:p>
          <a:p>
            <a:r>
              <a:rPr lang="en-IN" sz="2800" b="1" dirty="0"/>
              <a:t>[2]</a:t>
            </a:r>
            <a:r>
              <a:rPr lang="en-IN" sz="2800" dirty="0"/>
              <a:t> D. </a:t>
            </a:r>
            <a:r>
              <a:rPr lang="en-IN" sz="2800" dirty="0" err="1"/>
              <a:t>Ajalkar</a:t>
            </a:r>
            <a:r>
              <a:rPr lang="en-IN" sz="2800" dirty="0"/>
              <a:t>, V. Chavan, and P. Bhosle, “Machine learning based intrusion detection system,” </a:t>
            </a:r>
            <a:r>
              <a:rPr lang="en-IN" sz="2800" i="1" dirty="0"/>
              <a:t>International Journal of Advanced Research in Science, Communication and Technology (IJARSCT)</a:t>
            </a:r>
            <a:r>
              <a:rPr lang="en-IN" sz="2800" dirty="0"/>
              <a:t>, vol. 5, no. 10, pp. 538–540, Apr. 2025</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402945" y="0"/>
            <a:ext cx="11482111" cy="2240747"/>
          </a:xfrm>
          <a:custGeom>
            <a:avLst/>
            <a:gdLst/>
            <a:ahLst/>
            <a:cxnLst/>
            <a:rect l="l" t="t" r="r" b="b"/>
            <a:pathLst>
              <a:path w="11482111" h="2240747">
                <a:moveTo>
                  <a:pt x="0" y="0"/>
                </a:moveTo>
                <a:lnTo>
                  <a:pt x="11482110" y="0"/>
                </a:lnTo>
                <a:lnTo>
                  <a:pt x="11482110" y="2240747"/>
                </a:lnTo>
                <a:lnTo>
                  <a:pt x="0" y="2240747"/>
                </a:lnTo>
                <a:lnTo>
                  <a:pt x="0" y="0"/>
                </a:lnTo>
                <a:close/>
              </a:path>
            </a:pathLst>
          </a:custGeom>
          <a:blipFill>
            <a:blip r:embed="rId2"/>
            <a:stretch>
              <a:fillRect b="-4990"/>
            </a:stretch>
          </a:blipFill>
          <a:ln cap="sq">
            <a:noFill/>
            <a:prstDash val="solid"/>
            <a:miter/>
          </a:ln>
        </p:spPr>
      </p:sp>
      <p:sp>
        <p:nvSpPr>
          <p:cNvPr id="3" name="TextBox 3"/>
          <p:cNvSpPr txBox="1"/>
          <p:nvPr/>
        </p:nvSpPr>
        <p:spPr>
          <a:xfrm>
            <a:off x="4973003" y="3833621"/>
            <a:ext cx="8341995" cy="2288922"/>
          </a:xfrm>
          <a:prstGeom prst="rect">
            <a:avLst/>
          </a:prstGeom>
        </p:spPr>
        <p:txBody>
          <a:bodyPr lIns="0" tIns="0" rIns="0" bIns="0" rtlCol="0" anchor="t">
            <a:spAutoFit/>
          </a:bodyPr>
          <a:lstStyle/>
          <a:p>
            <a:pPr algn="ctr">
              <a:lnSpc>
                <a:spcPts val="18213"/>
              </a:lnSpc>
              <a:spcBef>
                <a:spcPct val="0"/>
              </a:spcBef>
            </a:pPr>
            <a:r>
              <a:rPr lang="en-US" sz="13009" b="1">
                <a:solidFill>
                  <a:srgbClr val="000000"/>
                </a:solidFill>
                <a:latin typeface="Times New Roman Bold"/>
                <a:ea typeface="Times New Roman Bold"/>
                <a:cs typeface="Times New Roman Bold"/>
                <a:sym typeface="Times New Roman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68</TotalTime>
  <Words>1151</Words>
  <Application>Microsoft Office PowerPoint</Application>
  <PresentationFormat>Custom</PresentationFormat>
  <Paragraphs>116</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Times New Roman</vt:lpstr>
      <vt:lpstr>Calibri</vt:lpstr>
      <vt:lpstr>Times New Roman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XAI-IDS</dc:title>
  <cp:lastModifiedBy>Atharv Patil</cp:lastModifiedBy>
  <cp:revision>16</cp:revision>
  <dcterms:created xsi:type="dcterms:W3CDTF">2006-08-16T00:00:00Z</dcterms:created>
  <dcterms:modified xsi:type="dcterms:W3CDTF">2026-03-28T13:21:43Z</dcterms:modified>
  <dc:identifier>DAGj1nyZjnk</dc:identifier>
</cp:coreProperties>
</file>